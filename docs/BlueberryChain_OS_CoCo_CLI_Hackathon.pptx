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Manrope SemiBold"/>
      <p:regular r:id="rId13"/>
      <p:bold r:id="rId14"/>
    </p:embeddedFont>
    <p:embeddedFont>
      <p:font typeface="Manrope"/>
      <p:regular r:id="rId15"/>
      <p:bold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7" roundtripDataSignature="AMtx7mjidxsXFOeykWSLbZnCFR9xk5wiA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ManropeSemiBold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anrope-regular.fntdata"/><Relationship Id="rId14" Type="http://schemas.openxmlformats.org/officeDocument/2006/relationships/font" Target="fonts/ManropeSemiBold-bold.fntdata"/><Relationship Id="rId17" Type="http://customschemas.google.com/relationships/presentationmetadata" Target="metadata"/><Relationship Id="rId16" Type="http://schemas.openxmlformats.org/officeDocument/2006/relationships/font" Target="fonts/Manrope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1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1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1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1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1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8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9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" title="Framexexexe 23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"/>
          <p:cNvSpPr txBox="1"/>
          <p:nvPr/>
        </p:nvSpPr>
        <p:spPr>
          <a:xfrm>
            <a:off x="322054" y="3539125"/>
            <a:ext cx="3324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6750" lIns="76750" spcFirstLastPara="1" rIns="76750" wrap="square" tIns="7675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/>
              <a:buNone/>
            </a:pPr>
            <a:r>
              <a:rPr b="0" i="0" lang="en-US" sz="1300" u="none" cap="none" strike="noStrike">
                <a:solidFill>
                  <a:srgbClr val="5B6B7A"/>
                </a:solidFill>
                <a:latin typeface="Manrope"/>
                <a:ea typeface="Manrope"/>
                <a:cs typeface="Manrope"/>
                <a:sym typeface="Manrope"/>
              </a:rPr>
              <a:t>Team Name  :</a:t>
            </a:r>
            <a:r>
              <a:rPr b="1" i="0" lang="en-US" sz="1300" u="none" cap="none" strike="noStrike">
                <a:solidFill>
                  <a:srgbClr val="0B2A4A"/>
                </a:solidFill>
                <a:latin typeface="Manrope"/>
                <a:ea typeface="Manrope"/>
                <a:cs typeface="Manrope"/>
                <a:sym typeface="Manrope"/>
              </a:rPr>
              <a:t>  </a:t>
            </a:r>
            <a:r>
              <a:rPr b="1" lang="en-US" sz="1300">
                <a:solidFill>
                  <a:srgbClr val="0B2A4A"/>
                </a:solidFill>
                <a:latin typeface="Manrope"/>
                <a:ea typeface="Manrope"/>
                <a:cs typeface="Manrope"/>
                <a:sym typeface="Manrope"/>
              </a:rPr>
              <a:t>BlueBerryOS</a:t>
            </a:r>
            <a:endParaRPr b="0" i="0" sz="1343" u="none" cap="none" strike="noStrik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6" name="Google Shape;56;p1"/>
          <p:cNvSpPr txBox="1"/>
          <p:nvPr/>
        </p:nvSpPr>
        <p:spPr>
          <a:xfrm>
            <a:off x="402800" y="4250149"/>
            <a:ext cx="84324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76750" lIns="76750" spcFirstLastPara="1" rIns="76750" wrap="square" tIns="76750">
            <a:norm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/>
              <a:buNone/>
            </a:pPr>
            <a:r>
              <a:rPr b="0" i="0" lang="en-US" sz="1300" u="none" cap="none" strike="noStrike">
                <a:solidFill>
                  <a:srgbClr val="5B6B7A"/>
                </a:solidFill>
                <a:latin typeface="Manrope"/>
                <a:ea typeface="Manrope"/>
                <a:cs typeface="Manrope"/>
                <a:sym typeface="Manrope"/>
              </a:rPr>
              <a:t>Problem Statement  :</a:t>
            </a:r>
            <a:r>
              <a:rPr b="1" i="0" lang="en-US" sz="1300" u="none" cap="none" strike="noStrike">
                <a:solidFill>
                  <a:srgbClr val="0B2A4A"/>
                </a:solidFill>
                <a:latin typeface="Manrope"/>
                <a:ea typeface="Manrope"/>
                <a:cs typeface="Manrope"/>
                <a:sym typeface="Manrope"/>
              </a:rPr>
              <a:t>  Governed, auditable farm-to-retail cold-chain traceability on Snowflake + CoCo CLI</a:t>
            </a:r>
            <a:endParaRPr b="0" i="0" sz="1343" u="none" cap="none" strike="noStrik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7" name="Google Shape;57;p1"/>
          <p:cNvSpPr txBox="1"/>
          <p:nvPr/>
        </p:nvSpPr>
        <p:spPr>
          <a:xfrm>
            <a:off x="4164299" y="3486575"/>
            <a:ext cx="40821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76750" lIns="76750" spcFirstLastPara="1" rIns="76750" wrap="square" tIns="7675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/>
              <a:buNone/>
            </a:pPr>
            <a:r>
              <a:rPr b="0" i="0" lang="en-US" sz="1300" u="none" cap="none" strike="noStrike">
                <a:solidFill>
                  <a:srgbClr val="5B6B7A"/>
                </a:solidFill>
                <a:latin typeface="Manrope"/>
                <a:ea typeface="Manrope"/>
                <a:cs typeface="Manrope"/>
                <a:sym typeface="Manrope"/>
              </a:rPr>
              <a:t>Team Leader Name  :</a:t>
            </a:r>
            <a:r>
              <a:rPr b="1" i="0" lang="en-US" sz="1300" u="none" cap="none" strike="noStrike">
                <a:solidFill>
                  <a:srgbClr val="0B2A4A"/>
                </a:solidFill>
                <a:latin typeface="Manrope"/>
                <a:ea typeface="Manrope"/>
                <a:cs typeface="Manrope"/>
                <a:sym typeface="Manrope"/>
              </a:rPr>
              <a:t>  </a:t>
            </a:r>
            <a:r>
              <a:rPr b="1" lang="en-US" sz="1300">
                <a:solidFill>
                  <a:srgbClr val="0B2A4A"/>
                </a:solidFill>
                <a:latin typeface="Manrope"/>
                <a:ea typeface="Manrope"/>
                <a:cs typeface="Manrope"/>
                <a:sym typeface="Manrope"/>
              </a:rPr>
              <a:t>Durga Prasad Pitani</a:t>
            </a:r>
            <a:endParaRPr b="0" i="0" sz="1343" u="none" cap="none" strike="noStrik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8" name="Google Shape;58;p1"/>
          <p:cNvSpPr txBox="1"/>
          <p:nvPr/>
        </p:nvSpPr>
        <p:spPr>
          <a:xfrm>
            <a:off x="402793" y="3907250"/>
            <a:ext cx="2808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6750" lIns="76750" spcFirstLastPara="1" rIns="76750" wrap="square" tIns="76750">
            <a:norm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/>
              <a:buNone/>
            </a:pPr>
            <a:r>
              <a:rPr b="0" i="0" lang="en-US" sz="1300" u="none" cap="none" strike="noStrike">
                <a:solidFill>
                  <a:srgbClr val="5B6B7A"/>
                </a:solidFill>
                <a:latin typeface="Manrope"/>
                <a:ea typeface="Manrope"/>
                <a:cs typeface="Manrope"/>
                <a:sym typeface="Manrope"/>
              </a:rPr>
              <a:t>Team Size  :</a:t>
            </a:r>
            <a:r>
              <a:rPr b="1" i="0" lang="en-US" sz="1300" u="none" cap="none" strike="noStrike">
                <a:solidFill>
                  <a:srgbClr val="0B2A4A"/>
                </a:solidFill>
                <a:latin typeface="Manrope"/>
                <a:ea typeface="Manrope"/>
                <a:cs typeface="Manrope"/>
                <a:sym typeface="Manrope"/>
              </a:rPr>
              <a:t>  </a:t>
            </a:r>
            <a:r>
              <a:rPr b="1" lang="en-US" sz="1300">
                <a:solidFill>
                  <a:srgbClr val="0B2A4A"/>
                </a:solidFill>
                <a:latin typeface="Manrope"/>
                <a:ea typeface="Manrope"/>
                <a:cs typeface="Manrope"/>
                <a:sym typeface="Manrope"/>
              </a:rPr>
              <a:t>1</a:t>
            </a:r>
            <a:endParaRPr b="0" i="0" sz="1343" u="none" cap="none" strike="noStrik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9" name="Google Shape;59;p1"/>
          <p:cNvSpPr txBox="1"/>
          <p:nvPr/>
        </p:nvSpPr>
        <p:spPr>
          <a:xfrm>
            <a:off x="402800" y="2948550"/>
            <a:ext cx="332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0B2A4A"/>
                </a:solidFill>
                <a:latin typeface="Manrope"/>
                <a:ea typeface="Manrope"/>
                <a:cs typeface="Manrope"/>
                <a:sym typeface="Manrope"/>
              </a:rPr>
              <a:t>BlueBerry Chain</a:t>
            </a:r>
            <a:r>
              <a:rPr b="1" i="0" lang="en-US" sz="2600" u="none" cap="none" strike="noStrike">
                <a:solidFill>
                  <a:srgbClr val="0B2A4A"/>
                </a:solidFill>
                <a:latin typeface="Manrope"/>
                <a:ea typeface="Manrope"/>
                <a:cs typeface="Manrope"/>
                <a:sym typeface="Manrope"/>
              </a:rPr>
              <a:t> OS</a:t>
            </a:r>
            <a:endParaRPr/>
          </a:p>
        </p:txBody>
      </p:sp>
      <p:sp>
        <p:nvSpPr>
          <p:cNvPr id="60" name="Google Shape;60;p1"/>
          <p:cNvSpPr txBox="1"/>
          <p:nvPr/>
        </p:nvSpPr>
        <p:spPr>
          <a:xfrm>
            <a:off x="4926775" y="2948547"/>
            <a:ext cx="3728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0B6FC2"/>
                </a:solidFill>
                <a:latin typeface="Manrope"/>
                <a:ea typeface="Manrope"/>
                <a:cs typeface="Manrope"/>
                <a:sym typeface="Manrope"/>
              </a:rPr>
              <a:t>Autonomous, governed cold-chain OS on Snowflake  ·  driven by CoCo CLI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2" title="Framewsxexexe 23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2"/>
          <p:cNvSpPr txBox="1"/>
          <p:nvPr/>
        </p:nvSpPr>
        <p:spPr>
          <a:xfrm>
            <a:off x="475488" y="548640"/>
            <a:ext cx="82296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B2A4A"/>
                </a:solidFill>
                <a:latin typeface="Manrope"/>
                <a:ea typeface="Manrope"/>
                <a:cs typeface="Manrope"/>
                <a:sym typeface="Manrope"/>
              </a:rPr>
              <a:t>Problem Brief</a:t>
            </a:r>
            <a:endParaRPr/>
          </a:p>
        </p:txBody>
      </p:sp>
      <p:sp>
        <p:nvSpPr>
          <p:cNvPr id="67" name="Google Shape;67;p2"/>
          <p:cNvSpPr/>
          <p:nvPr/>
        </p:nvSpPr>
        <p:spPr>
          <a:xfrm>
            <a:off x="493776" y="1188720"/>
            <a:ext cx="731520" cy="41148"/>
          </a:xfrm>
          <a:prstGeom prst="rect">
            <a:avLst/>
          </a:prstGeom>
          <a:solidFill>
            <a:srgbClr val="00C4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2"/>
          <p:cNvSpPr txBox="1"/>
          <p:nvPr/>
        </p:nvSpPr>
        <p:spPr>
          <a:xfrm>
            <a:off x="493776" y="914400"/>
            <a:ext cx="8229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B6B7A"/>
                </a:solidFill>
                <a:latin typeface="Manrope"/>
                <a:ea typeface="Manrope"/>
                <a:cs typeface="Manrope"/>
                <a:sym typeface="Manrope"/>
              </a:rPr>
              <a:t>The same question should not get different answers</a:t>
            </a:r>
            <a:endParaRPr/>
          </a:p>
        </p:txBody>
      </p:sp>
      <p:sp>
        <p:nvSpPr>
          <p:cNvPr id="69" name="Google Shape;69;p2"/>
          <p:cNvSpPr txBox="1"/>
          <p:nvPr/>
        </p:nvSpPr>
        <p:spPr>
          <a:xfrm>
            <a:off x="502920" y="1389888"/>
            <a:ext cx="3886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9B5E8"/>
                </a:solidFill>
                <a:latin typeface="Manrope"/>
                <a:ea typeface="Manrope"/>
                <a:cs typeface="Manrope"/>
                <a:sym typeface="Manrope"/>
              </a:rPr>
              <a:t>THE REAL BUSINESS PROBLEM</a:t>
            </a:r>
            <a:endParaRPr/>
          </a:p>
        </p:txBody>
      </p:sp>
      <p:sp>
        <p:nvSpPr>
          <p:cNvPr id="70" name="Google Shape;70;p2"/>
          <p:cNvSpPr txBox="1"/>
          <p:nvPr/>
        </p:nvSpPr>
        <p:spPr>
          <a:xfrm>
            <a:off x="502920" y="1682496"/>
            <a:ext cx="38862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46304" lvl="0" marL="146304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9B5E8"/>
                </a:solidFill>
                <a:latin typeface="Manrope"/>
                <a:ea typeface="Manrope"/>
                <a:cs typeface="Manrope"/>
                <a:sym typeface="Manrope"/>
              </a:rPr>
              <a:t>•  </a:t>
            </a:r>
            <a:r>
              <a:rPr b="0" i="0" lang="en-US" sz="1050" u="none" cap="none" strike="noStrike">
                <a:solidFill>
                  <a:srgbClr val="1F2A33"/>
                </a:solidFill>
                <a:latin typeface="Manrope"/>
                <a:ea typeface="Manrope"/>
                <a:cs typeface="Manrope"/>
                <a:sym typeface="Manrope"/>
              </a:rPr>
              <a:t>A farm-to-retail cold chain runs on a </a:t>
            </a:r>
            <a:r>
              <a:rPr b="1" i="0" lang="en-US" sz="1050" u="none" cap="none" strike="noStrike">
                <a:solidFill>
                  <a:srgbClr val="0B2A4A"/>
                </a:solidFill>
                <a:latin typeface="Manrope"/>
                <a:ea typeface="Manrope"/>
                <a:cs typeface="Manrope"/>
                <a:sym typeface="Manrope"/>
              </a:rPr>
              <a:t>fragmented SAP stack</a:t>
            </a:r>
            <a:r>
              <a:rPr b="0" i="0" lang="en-US" sz="1050" u="none" cap="none" strike="noStrike">
                <a:solidFill>
                  <a:srgbClr val="1F2A33"/>
                </a:solidFill>
                <a:latin typeface="Manrope"/>
                <a:ea typeface="Manrope"/>
                <a:cs typeface="Manrope"/>
                <a:sym typeface="Manrope"/>
              </a:rPr>
              <a:t> — PP · MM · LE/TM · QM · WM/EWM · SD · FI/CO.</a:t>
            </a:r>
            <a:endParaRPr/>
          </a:p>
          <a:p>
            <a:pPr indent="-146304" lvl="0" marL="146304" marR="0" rtl="0" algn="l">
              <a:lnSpc>
                <a:spcPct val="10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9B5E8"/>
                </a:solidFill>
                <a:latin typeface="Manrope"/>
                <a:ea typeface="Manrope"/>
                <a:cs typeface="Manrope"/>
                <a:sym typeface="Manrope"/>
              </a:rPr>
              <a:t>•  </a:t>
            </a:r>
            <a:r>
              <a:rPr b="0" i="0" lang="en-US" sz="1050" u="none" cap="none" strike="noStrike">
                <a:solidFill>
                  <a:srgbClr val="1F2A33"/>
                </a:solidFill>
                <a:latin typeface="Manrope"/>
                <a:ea typeface="Manrope"/>
                <a:cs typeface="Manrope"/>
                <a:sym typeface="Manrope"/>
              </a:rPr>
              <a:t>The </a:t>
            </a:r>
            <a:r>
              <a:rPr b="1" i="0" lang="en-US" sz="1050" u="none" cap="none" strike="noStrike">
                <a:solidFill>
                  <a:srgbClr val="0B2A4A"/>
                </a:solidFill>
                <a:latin typeface="Manrope"/>
                <a:ea typeface="Manrope"/>
                <a:cs typeface="Manrope"/>
                <a:sym typeface="Manrope"/>
              </a:rPr>
              <a:t>same question, a different answer</a:t>
            </a:r>
            <a:r>
              <a:rPr b="0" i="0" lang="en-US" sz="1050" u="none" cap="none" strike="noStrike">
                <a:solidFill>
                  <a:srgbClr val="1F2A33"/>
                </a:solidFill>
                <a:latin typeface="Manrope"/>
                <a:ea typeface="Manrope"/>
                <a:cs typeface="Manrope"/>
                <a:sym typeface="Manrope"/>
              </a:rPr>
              <a:t> — each silo re-defines its own metrics.</a:t>
            </a:r>
            <a:endParaRPr/>
          </a:p>
          <a:p>
            <a:pPr indent="-146304" lvl="0" marL="146304" marR="0" rtl="0" algn="l">
              <a:lnSpc>
                <a:spcPct val="10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9B5E8"/>
                </a:solidFill>
                <a:latin typeface="Manrope"/>
                <a:ea typeface="Manrope"/>
                <a:cs typeface="Manrope"/>
                <a:sym typeface="Manrope"/>
              </a:rPr>
              <a:t>•  </a:t>
            </a:r>
            <a:r>
              <a:rPr b="0" i="0" lang="en-US" sz="1050" u="none" cap="none" strike="noStrike">
                <a:solidFill>
                  <a:srgbClr val="1F2A33"/>
                </a:solidFill>
                <a:latin typeface="Manrope"/>
                <a:ea typeface="Manrope"/>
                <a:cs typeface="Manrope"/>
                <a:sym typeface="Manrope"/>
              </a:rPr>
              <a:t>Verification is </a:t>
            </a:r>
            <a:r>
              <a:rPr b="1" i="0" lang="en-US" sz="1050" u="none" cap="none" strike="noStrike">
                <a:solidFill>
                  <a:srgbClr val="0B2A4A"/>
                </a:solidFill>
                <a:latin typeface="Manrope"/>
                <a:ea typeface="Manrope"/>
                <a:cs typeface="Manrope"/>
                <a:sym typeface="Manrope"/>
              </a:rPr>
              <a:t>manual</a:t>
            </a:r>
            <a:r>
              <a:rPr b="0" i="0" lang="en-US" sz="1050" u="none" cap="none" strike="noStrike">
                <a:solidFill>
                  <a:srgbClr val="1F2A33"/>
                </a:solidFill>
                <a:latin typeface="Manrope"/>
                <a:ea typeface="Manrope"/>
                <a:cs typeface="Manrope"/>
                <a:sym typeface="Manrope"/>
              </a:rPr>
              <a:t> — inspection PDFs, dispatch records and invoices reconciled by hand.</a:t>
            </a:r>
            <a:endParaRPr/>
          </a:p>
          <a:p>
            <a:pPr indent="-146304" lvl="0" marL="146304" marR="0" rtl="0" algn="l">
              <a:lnSpc>
                <a:spcPct val="10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9B5E8"/>
                </a:solidFill>
                <a:latin typeface="Manrope"/>
                <a:ea typeface="Manrope"/>
                <a:cs typeface="Manrope"/>
                <a:sym typeface="Manrope"/>
              </a:rPr>
              <a:t>•  </a:t>
            </a:r>
            <a:r>
              <a:rPr b="0" i="0" lang="en-US" sz="1050" u="none" cap="none" strike="noStrike">
                <a:solidFill>
                  <a:srgbClr val="1F2A33"/>
                </a:solidFill>
                <a:latin typeface="Manrope"/>
                <a:ea typeface="Manrope"/>
                <a:cs typeface="Manrope"/>
                <a:sym typeface="Manrope"/>
              </a:rPr>
              <a:t>No </a:t>
            </a:r>
            <a:r>
              <a:rPr b="1" i="0" lang="en-US" sz="1050" u="none" cap="none" strike="noStrike">
                <a:solidFill>
                  <a:srgbClr val="0B2A4A"/>
                </a:solidFill>
                <a:latin typeface="Manrope"/>
                <a:ea typeface="Manrope"/>
                <a:cs typeface="Manrope"/>
                <a:sym typeface="Manrope"/>
              </a:rPr>
              <a:t>audit trail</a:t>
            </a:r>
            <a:r>
              <a:rPr b="0" i="0" lang="en-US" sz="1050" u="none" cap="none" strike="noStrike">
                <a:solidFill>
                  <a:srgbClr val="1F2A33"/>
                </a:solidFill>
                <a:latin typeface="Manrope"/>
                <a:ea typeface="Manrope"/>
                <a:cs typeface="Manrope"/>
                <a:sym typeface="Manrope"/>
              </a:rPr>
              <a:t> links a decision to the numbers that justified it.</a:t>
            </a:r>
            <a:endParaRPr/>
          </a:p>
        </p:txBody>
      </p:sp>
      <p:sp>
        <p:nvSpPr>
          <p:cNvPr id="71" name="Google Shape;71;p2"/>
          <p:cNvSpPr txBox="1"/>
          <p:nvPr/>
        </p:nvSpPr>
        <p:spPr>
          <a:xfrm>
            <a:off x="502920" y="3017520"/>
            <a:ext cx="3886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9B5E8"/>
                </a:solidFill>
                <a:latin typeface="Manrope"/>
                <a:ea typeface="Manrope"/>
                <a:cs typeface="Manrope"/>
                <a:sym typeface="Manrope"/>
              </a:rPr>
              <a:t>INDUSTRY CONTEXT</a:t>
            </a:r>
            <a:endParaRPr/>
          </a:p>
        </p:txBody>
      </p:sp>
      <p:sp>
        <p:nvSpPr>
          <p:cNvPr id="72" name="Google Shape;72;p2"/>
          <p:cNvSpPr txBox="1"/>
          <p:nvPr/>
        </p:nvSpPr>
        <p:spPr>
          <a:xfrm>
            <a:off x="502920" y="3310128"/>
            <a:ext cx="38862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46304" lvl="0" marL="146304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9B5E8"/>
                </a:solidFill>
                <a:latin typeface="Manrope"/>
                <a:ea typeface="Manrope"/>
                <a:cs typeface="Manrope"/>
                <a:sym typeface="Manrope"/>
              </a:rPr>
              <a:t>•  </a:t>
            </a:r>
            <a:r>
              <a:rPr b="1" i="0" lang="en-US" sz="1050" u="none" cap="none" strike="noStrike">
                <a:solidFill>
                  <a:srgbClr val="0B2A4A"/>
                </a:solidFill>
                <a:latin typeface="Manrope"/>
                <a:ea typeface="Manrope"/>
                <a:cs typeface="Manrope"/>
                <a:sym typeface="Manrope"/>
              </a:rPr>
              <a:t>GCC agri-perishables cold chain</a:t>
            </a:r>
            <a:r>
              <a:rPr b="0" i="0" lang="en-US" sz="1050" u="none" cap="none" strike="noStrike">
                <a:solidFill>
                  <a:srgbClr val="1F2A33"/>
                </a:solidFill>
                <a:latin typeface="Manrope"/>
                <a:ea typeface="Manrope"/>
                <a:cs typeface="Manrope"/>
                <a:sym typeface="Manrope"/>
              </a:rPr>
              <a:t> — organic blueberries, farm → distribution centre → retail (Tracy DC → Costco).</a:t>
            </a:r>
            <a:endParaRPr/>
          </a:p>
        </p:txBody>
      </p:sp>
      <p:sp>
        <p:nvSpPr>
          <p:cNvPr id="73" name="Google Shape;73;p2"/>
          <p:cNvSpPr txBox="1"/>
          <p:nvPr/>
        </p:nvSpPr>
        <p:spPr>
          <a:xfrm>
            <a:off x="4754880" y="1389888"/>
            <a:ext cx="3886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9B5E8"/>
                </a:solidFill>
                <a:latin typeface="Manrope"/>
                <a:ea typeface="Manrope"/>
                <a:cs typeface="Manrope"/>
                <a:sym typeface="Manrope"/>
              </a:rPr>
              <a:t>TARGET USER &amp; PERSONA</a:t>
            </a:r>
            <a:endParaRPr/>
          </a:p>
        </p:txBody>
      </p:sp>
      <p:sp>
        <p:nvSpPr>
          <p:cNvPr id="74" name="Google Shape;74;p2"/>
          <p:cNvSpPr txBox="1"/>
          <p:nvPr/>
        </p:nvSpPr>
        <p:spPr>
          <a:xfrm>
            <a:off x="4754880" y="1682496"/>
            <a:ext cx="38862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46304" lvl="0" marL="146304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9B5E8"/>
                </a:solidFill>
                <a:latin typeface="Manrope"/>
                <a:ea typeface="Manrope"/>
                <a:cs typeface="Manrope"/>
                <a:sym typeface="Manrope"/>
              </a:rPr>
              <a:t>•  </a:t>
            </a:r>
            <a:r>
              <a:rPr b="1" i="0" lang="en-US" sz="1050" u="none" cap="none" strike="noStrike">
                <a:solidFill>
                  <a:srgbClr val="0B2A4A"/>
                </a:solidFill>
                <a:latin typeface="Manrope"/>
                <a:ea typeface="Manrope"/>
                <a:cs typeface="Manrope"/>
                <a:sym typeface="Manrope"/>
              </a:rPr>
              <a:t>Ranch operations</a:t>
            </a:r>
            <a:r>
              <a:rPr b="0" i="0" lang="en-US" sz="1050" u="none" cap="none" strike="noStrike">
                <a:solidFill>
                  <a:srgbClr val="1F2A33"/>
                </a:solidFill>
                <a:latin typeface="Manrope"/>
                <a:ea typeface="Manrope"/>
                <a:cs typeface="Manrope"/>
                <a:sym typeface="Manrope"/>
              </a:rPr>
              <a:t> — harvest-to-hold decisions</a:t>
            </a:r>
            <a:endParaRPr/>
          </a:p>
          <a:p>
            <a:pPr indent="-146304" lvl="0" marL="146304" marR="0" rtl="0" algn="l">
              <a:lnSpc>
                <a:spcPct val="10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9B5E8"/>
                </a:solidFill>
                <a:latin typeface="Manrope"/>
                <a:ea typeface="Manrope"/>
                <a:cs typeface="Manrope"/>
                <a:sym typeface="Manrope"/>
              </a:rPr>
              <a:t>•  </a:t>
            </a:r>
            <a:r>
              <a:rPr b="1" i="0" lang="en-US" sz="1050" u="none" cap="none" strike="noStrike">
                <a:solidFill>
                  <a:srgbClr val="0B2A4A"/>
                </a:solidFill>
                <a:latin typeface="Manrope"/>
                <a:ea typeface="Manrope"/>
                <a:cs typeface="Manrope"/>
                <a:sym typeface="Manrope"/>
              </a:rPr>
              <a:t>Logistics &amp; cold-chain managers</a:t>
            </a:r>
            <a:r>
              <a:rPr b="0" i="0" lang="en-US" sz="1050" u="none" cap="none" strike="noStrike">
                <a:solidFill>
                  <a:srgbClr val="1F2A33"/>
                </a:solidFill>
                <a:latin typeface="Manrope"/>
                <a:ea typeface="Manrope"/>
                <a:cs typeface="Manrope"/>
                <a:sym typeface="Manrope"/>
              </a:rPr>
              <a:t> — reefer integrity, routing</a:t>
            </a:r>
            <a:endParaRPr/>
          </a:p>
          <a:p>
            <a:pPr indent="-146304" lvl="0" marL="146304" marR="0" rtl="0" algn="l">
              <a:lnSpc>
                <a:spcPct val="10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9B5E8"/>
                </a:solidFill>
                <a:latin typeface="Manrope"/>
                <a:ea typeface="Manrope"/>
                <a:cs typeface="Manrope"/>
                <a:sym typeface="Manrope"/>
              </a:rPr>
              <a:t>•  </a:t>
            </a:r>
            <a:r>
              <a:rPr b="1" i="0" lang="en-US" sz="1050" u="none" cap="none" strike="noStrike">
                <a:solidFill>
                  <a:srgbClr val="0B2A4A"/>
                </a:solidFill>
                <a:latin typeface="Manrope"/>
                <a:ea typeface="Manrope"/>
                <a:cs typeface="Manrope"/>
                <a:sym typeface="Manrope"/>
              </a:rPr>
              <a:t>Quality inspectors</a:t>
            </a:r>
            <a:r>
              <a:rPr b="0" i="0" lang="en-US" sz="1050" u="none" cap="none" strike="noStrike">
                <a:solidFill>
                  <a:srgbClr val="1F2A33"/>
                </a:solidFill>
                <a:latin typeface="Manrope"/>
                <a:ea typeface="Manrope"/>
                <a:cs typeface="Manrope"/>
                <a:sym typeface="Manrope"/>
              </a:rPr>
              <a:t> — temperature compliance &amp; shelf life</a:t>
            </a:r>
            <a:endParaRPr/>
          </a:p>
          <a:p>
            <a:pPr indent="-146304" lvl="0" marL="146304" marR="0" rtl="0" algn="l">
              <a:lnSpc>
                <a:spcPct val="10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9B5E8"/>
                </a:solidFill>
                <a:latin typeface="Manrope"/>
                <a:ea typeface="Manrope"/>
                <a:cs typeface="Manrope"/>
                <a:sym typeface="Manrope"/>
              </a:rPr>
              <a:t>•  </a:t>
            </a:r>
            <a:r>
              <a:rPr b="1" i="0" lang="en-US" sz="1050" u="none" cap="none" strike="noStrike">
                <a:solidFill>
                  <a:srgbClr val="0B2A4A"/>
                </a:solidFill>
                <a:latin typeface="Manrope"/>
                <a:ea typeface="Manrope"/>
                <a:cs typeface="Manrope"/>
                <a:sym typeface="Manrope"/>
              </a:rPr>
              <a:t>Finance / AR</a:t>
            </a:r>
            <a:r>
              <a:rPr b="0" i="0" lang="en-US" sz="1050" u="none" cap="none" strike="noStrike">
                <a:solidFill>
                  <a:srgbClr val="1F2A33"/>
                </a:solidFill>
                <a:latin typeface="Manrope"/>
                <a:ea typeface="Manrope"/>
                <a:cs typeface="Manrope"/>
                <a:sym typeface="Manrope"/>
              </a:rPr>
              <a:t> — landed cost, credit notes, settlement</a:t>
            </a:r>
            <a:endParaRPr/>
          </a:p>
          <a:p>
            <a:pPr indent="-146304" lvl="0" marL="146304" marR="0" rtl="0" algn="l">
              <a:lnSpc>
                <a:spcPct val="10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9B5E8"/>
                </a:solidFill>
                <a:latin typeface="Manrope"/>
                <a:ea typeface="Manrope"/>
                <a:cs typeface="Manrope"/>
                <a:sym typeface="Manrope"/>
              </a:rPr>
              <a:t>•  </a:t>
            </a:r>
            <a:r>
              <a:rPr b="1" i="0" lang="en-US" sz="1050" u="none" cap="none" strike="noStrike">
                <a:solidFill>
                  <a:srgbClr val="0B2A4A"/>
                </a:solidFill>
                <a:latin typeface="Manrope"/>
                <a:ea typeface="Manrope"/>
                <a:cs typeface="Manrope"/>
                <a:sym typeface="Manrope"/>
              </a:rPr>
              <a:t>Sales &amp; order promise</a:t>
            </a:r>
            <a:r>
              <a:rPr b="0" i="0" lang="en-US" sz="1050" u="none" cap="none" strike="noStrike">
                <a:solidFill>
                  <a:srgbClr val="1F2A33"/>
                </a:solidFill>
                <a:latin typeface="Manrope"/>
                <a:ea typeface="Manrope"/>
                <a:cs typeface="Manrope"/>
                <a:sym typeface="Manrope"/>
              </a:rPr>
              <a:t> — ATP &amp; order coverage</a:t>
            </a:r>
            <a:endParaRPr/>
          </a:p>
        </p:txBody>
      </p:sp>
      <p:sp>
        <p:nvSpPr>
          <p:cNvPr id="75" name="Google Shape;75;p2"/>
          <p:cNvSpPr txBox="1"/>
          <p:nvPr/>
        </p:nvSpPr>
        <p:spPr>
          <a:xfrm>
            <a:off x="4754880" y="3017520"/>
            <a:ext cx="3886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9B5E8"/>
                </a:solidFill>
                <a:latin typeface="Manrope"/>
                <a:ea typeface="Manrope"/>
                <a:cs typeface="Manrope"/>
                <a:sym typeface="Manrope"/>
              </a:rPr>
              <a:t>TODAY → WITH </a:t>
            </a:r>
            <a:r>
              <a:rPr b="1" lang="en-US" sz="1050">
                <a:solidFill>
                  <a:srgbClr val="29B5E8"/>
                </a:solidFill>
                <a:latin typeface="Manrope"/>
                <a:ea typeface="Manrope"/>
                <a:cs typeface="Manrope"/>
                <a:sym typeface="Manrope"/>
              </a:rPr>
              <a:t>BLUEBERRY CHAIN</a:t>
            </a:r>
            <a:endParaRPr/>
          </a:p>
        </p:txBody>
      </p:sp>
      <p:sp>
        <p:nvSpPr>
          <p:cNvPr id="76" name="Google Shape;76;p2"/>
          <p:cNvSpPr txBox="1"/>
          <p:nvPr/>
        </p:nvSpPr>
        <p:spPr>
          <a:xfrm>
            <a:off x="4754880" y="3310128"/>
            <a:ext cx="38862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46304" lvl="0" marL="146304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9B5E8"/>
                </a:solidFill>
                <a:latin typeface="Manrope"/>
                <a:ea typeface="Manrope"/>
                <a:cs typeface="Manrope"/>
                <a:sym typeface="Manrope"/>
              </a:rPr>
              <a:t>•  </a:t>
            </a:r>
            <a:r>
              <a:rPr b="1" i="0" lang="en-US" sz="1050" u="none" cap="none" strike="noStrike">
                <a:solidFill>
                  <a:srgbClr val="0B2A4A"/>
                </a:solidFill>
                <a:latin typeface="Manrope"/>
                <a:ea typeface="Manrope"/>
                <a:cs typeface="Manrope"/>
                <a:sym typeface="Manrope"/>
              </a:rPr>
              <a:t>Module hopping &amp; t-codes</a:t>
            </a:r>
            <a:r>
              <a:rPr b="0" i="0" lang="en-US" sz="1050" u="none" cap="none" strike="noStrike">
                <a:solidFill>
                  <a:srgbClr val="1F2A33"/>
                </a:solidFill>
                <a:latin typeface="Manrope"/>
                <a:ea typeface="Manrope"/>
                <a:cs typeface="Manrope"/>
                <a:sym typeface="Manrope"/>
              </a:rPr>
              <a:t>  →  one conversation</a:t>
            </a:r>
            <a:endParaRPr/>
          </a:p>
          <a:p>
            <a:pPr indent="-146304" lvl="0" marL="146304" marR="0" rtl="0" algn="l">
              <a:lnSpc>
                <a:spcPct val="10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9B5E8"/>
                </a:solidFill>
                <a:latin typeface="Manrope"/>
                <a:ea typeface="Manrope"/>
                <a:cs typeface="Manrope"/>
                <a:sym typeface="Manrope"/>
              </a:rPr>
              <a:t>•  </a:t>
            </a:r>
            <a:r>
              <a:rPr b="1" i="0" lang="en-US" sz="1050" u="none" cap="none" strike="noStrike">
                <a:solidFill>
                  <a:srgbClr val="0B2A4A"/>
                </a:solidFill>
                <a:latin typeface="Manrope"/>
                <a:ea typeface="Manrope"/>
                <a:cs typeface="Manrope"/>
                <a:sym typeface="Manrope"/>
              </a:rPr>
              <a:t>Seven metric definitions</a:t>
            </a:r>
            <a:r>
              <a:rPr b="0" i="0" lang="en-US" sz="1050" u="none" cap="none" strike="noStrike">
                <a:solidFill>
                  <a:srgbClr val="1F2A33"/>
                </a:solidFill>
                <a:latin typeface="Manrope"/>
                <a:ea typeface="Manrope"/>
                <a:cs typeface="Manrope"/>
                <a:sym typeface="Manrope"/>
              </a:rPr>
              <a:t>  →  defined once, governed</a:t>
            </a:r>
            <a:endParaRPr/>
          </a:p>
          <a:p>
            <a:pPr indent="-146304" lvl="0" marL="146304" marR="0" rtl="0" algn="l">
              <a:lnSpc>
                <a:spcPct val="10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9B5E8"/>
                </a:solidFill>
                <a:latin typeface="Manrope"/>
                <a:ea typeface="Manrope"/>
                <a:cs typeface="Manrope"/>
                <a:sym typeface="Manrope"/>
              </a:rPr>
              <a:t>•  </a:t>
            </a:r>
            <a:r>
              <a:rPr b="1" i="0" lang="en-US" sz="1050" u="none" cap="none" strike="noStrike">
                <a:solidFill>
                  <a:srgbClr val="0B2A4A"/>
                </a:solidFill>
                <a:latin typeface="Manrope"/>
                <a:ea typeface="Manrope"/>
                <a:cs typeface="Manrope"/>
                <a:sym typeface="Manrope"/>
              </a:rPr>
              <a:t>Manual invoicing</a:t>
            </a:r>
            <a:r>
              <a:rPr b="0" i="0" lang="en-US" sz="1050" u="none" cap="none" strike="noStrike">
                <a:solidFill>
                  <a:srgbClr val="1F2A33"/>
                </a:solidFill>
                <a:latin typeface="Manrope"/>
                <a:ea typeface="Manrope"/>
                <a:cs typeface="Manrope"/>
                <a:sym typeface="Manrope"/>
              </a:rPr>
              <a:t>  →  47/47 arrivals settled autonomously</a:t>
            </a:r>
            <a:endParaRPr/>
          </a:p>
          <a:p>
            <a:pPr indent="-146304" lvl="0" marL="146304" marR="0" rtl="0" algn="l">
              <a:lnSpc>
                <a:spcPct val="10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9B5E8"/>
                </a:solidFill>
                <a:latin typeface="Manrope"/>
                <a:ea typeface="Manrope"/>
                <a:cs typeface="Manrope"/>
                <a:sym typeface="Manrope"/>
              </a:rPr>
              <a:t>•  </a:t>
            </a:r>
            <a:r>
              <a:rPr b="1" i="0" lang="en-US" sz="1050" u="none" cap="none" strike="noStrike">
                <a:solidFill>
                  <a:srgbClr val="0B2A4A"/>
                </a:solidFill>
                <a:latin typeface="Manrope"/>
                <a:ea typeface="Manrope"/>
                <a:cs typeface="Manrope"/>
                <a:sym typeface="Manrope"/>
              </a:rPr>
              <a:t>Silent errors</a:t>
            </a:r>
            <a:r>
              <a:rPr b="0" i="0" lang="en-US" sz="1050" u="none" cap="none" strike="noStrike">
                <a:solidFill>
                  <a:srgbClr val="1F2A33"/>
                </a:solidFill>
                <a:latin typeface="Manrope"/>
                <a:ea typeface="Manrope"/>
                <a:cs typeface="Manrope"/>
                <a:sym typeface="Manrope"/>
              </a:rPr>
              <a:t>  →  every action audit-linked to its metric snapshot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3" title="Framewsxexexe 23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3"/>
          <p:cNvSpPr txBox="1"/>
          <p:nvPr/>
        </p:nvSpPr>
        <p:spPr>
          <a:xfrm>
            <a:off x="475488" y="548640"/>
            <a:ext cx="82296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B2A4A"/>
                </a:solidFill>
                <a:latin typeface="Manrope"/>
                <a:ea typeface="Manrope"/>
                <a:cs typeface="Manrope"/>
                <a:sym typeface="Manrope"/>
              </a:rPr>
              <a:t>Architecture &amp; Data Flow</a:t>
            </a: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493776" y="1188720"/>
            <a:ext cx="731520" cy="41148"/>
          </a:xfrm>
          <a:prstGeom prst="rect">
            <a:avLst/>
          </a:prstGeom>
          <a:solidFill>
            <a:srgbClr val="00C4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3"/>
          <p:cNvSpPr txBox="1"/>
          <p:nvPr/>
        </p:nvSpPr>
        <p:spPr>
          <a:xfrm>
            <a:off x="493776" y="914400"/>
            <a:ext cx="8229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B6B7A"/>
                </a:solidFill>
                <a:latin typeface="Manrope"/>
                <a:ea typeface="Manrope"/>
                <a:cs typeface="Manrope"/>
                <a:sym typeface="Manrope"/>
              </a:rPr>
              <a:t>One conversation  ·  one governed source of truth  ·  every write audited</a:t>
            </a:r>
            <a:endParaRPr/>
          </a:p>
        </p:txBody>
      </p:sp>
      <p:sp>
        <p:nvSpPr>
          <p:cNvPr id="85" name="Google Shape;85;p3"/>
          <p:cNvSpPr/>
          <p:nvPr/>
        </p:nvSpPr>
        <p:spPr>
          <a:xfrm>
            <a:off x="457200" y="1371600"/>
            <a:ext cx="6355080" cy="457200"/>
          </a:xfrm>
          <a:prstGeom prst="roundRect">
            <a:avLst>
              <a:gd fmla="val 12000" name="adj"/>
            </a:avLst>
          </a:prstGeom>
          <a:solidFill>
            <a:srgbClr val="0B2A4A"/>
          </a:solidFill>
          <a:ln>
            <a:noFill/>
          </a:ln>
        </p:spPr>
        <p:txBody>
          <a:bodyPr anchorCtr="0" anchor="ctr" bIns="18275" lIns="82275" spcFirstLastPara="1" rIns="82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ONE SURFACE  ·  EVERY PERSONA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819" u="none" cap="none" strike="noStrike">
                <a:solidFill>
                  <a:srgbClr val="A9DBFF"/>
                </a:solidFill>
                <a:latin typeface="Manrope"/>
                <a:ea typeface="Manrope"/>
                <a:cs typeface="Manrope"/>
                <a:sym typeface="Manrope"/>
              </a:rPr>
              <a:t>Ranch ops · Logistics &amp; cold-chain · Quality inspection · Finance / AR · Sales &amp; order promise</a:t>
            </a:r>
            <a:endParaRPr/>
          </a:p>
        </p:txBody>
      </p:sp>
      <p:sp>
        <p:nvSpPr>
          <p:cNvPr id="86" name="Google Shape;86;p3"/>
          <p:cNvSpPr/>
          <p:nvPr/>
        </p:nvSpPr>
        <p:spPr>
          <a:xfrm>
            <a:off x="3543300" y="1834286"/>
            <a:ext cx="182880" cy="94183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29B5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457200" y="1933956"/>
            <a:ext cx="6355080" cy="457200"/>
          </a:xfrm>
          <a:prstGeom prst="roundRect">
            <a:avLst>
              <a:gd fmla="val 12000" name="adj"/>
            </a:avLst>
          </a:prstGeom>
          <a:solidFill>
            <a:srgbClr val="EAF4FD"/>
          </a:solidFill>
          <a:ln cap="flat" cmpd="sng" w="13950">
            <a:solidFill>
              <a:srgbClr val="29B5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82275" spcFirstLastPara="1" rIns="82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40" u="none" cap="none" strike="noStrike">
                <a:solidFill>
                  <a:srgbClr val="0B2A4A"/>
                </a:solidFill>
                <a:latin typeface="Manrope"/>
                <a:ea typeface="Manrope"/>
                <a:cs typeface="Manrope"/>
                <a:sym typeface="Manrope"/>
              </a:rPr>
              <a:t>Next.js 15  ·  Conversational UI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819" u="none" cap="none" strike="noStrike">
                <a:solidFill>
                  <a:srgbClr val="5B6B7A"/>
                </a:solidFill>
                <a:latin typeface="Manrope"/>
                <a:ea typeface="Manrope"/>
                <a:cs typeface="Manrope"/>
                <a:sym typeface="Manrope"/>
              </a:rPr>
              <a:t>timeline · metric cards · Vega-Lite charts · PDF document cards · Approve / Reject</a:t>
            </a:r>
            <a:endParaRPr/>
          </a:p>
        </p:txBody>
      </p:sp>
      <p:sp>
        <p:nvSpPr>
          <p:cNvPr id="88" name="Google Shape;88;p3"/>
          <p:cNvSpPr/>
          <p:nvPr/>
        </p:nvSpPr>
        <p:spPr>
          <a:xfrm>
            <a:off x="3543300" y="2396642"/>
            <a:ext cx="182880" cy="94183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29B5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457200" y="2496312"/>
            <a:ext cx="6355080" cy="457200"/>
          </a:xfrm>
          <a:prstGeom prst="roundRect">
            <a:avLst>
              <a:gd fmla="val 12000" name="adj"/>
            </a:avLst>
          </a:prstGeom>
          <a:solidFill>
            <a:srgbClr val="0B6FC2"/>
          </a:solidFill>
          <a:ln>
            <a:noFill/>
          </a:ln>
        </p:spPr>
        <p:txBody>
          <a:bodyPr anchorCtr="0" anchor="ctr" bIns="18275" lIns="82275" spcFirstLastPara="1" rIns="82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4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SUPERVISOR AGENT   →   7 SPECIALIST AGENTS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819" u="none" cap="none" strike="noStrike">
                <a:solidFill>
                  <a:srgbClr val="CFE8FF"/>
                </a:solidFill>
                <a:latin typeface="Manrope"/>
                <a:ea typeface="Manrope"/>
                <a:cs typeface="Manrope"/>
                <a:sym typeface="Manrope"/>
              </a:rPr>
              <a:t>routing · playbooks · 7 toolsets  ·  cold-chain · finance · quality · inventory/ATP · order-promise · harvest · procurement</a:t>
            </a:r>
            <a:endParaRPr/>
          </a:p>
        </p:txBody>
      </p:sp>
      <p:sp>
        <p:nvSpPr>
          <p:cNvPr id="90" name="Google Shape;90;p3"/>
          <p:cNvSpPr/>
          <p:nvPr/>
        </p:nvSpPr>
        <p:spPr>
          <a:xfrm>
            <a:off x="3543300" y="2958998"/>
            <a:ext cx="182880" cy="94183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29B5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457200" y="3058668"/>
            <a:ext cx="6355080" cy="457200"/>
          </a:xfrm>
          <a:prstGeom prst="roundRect">
            <a:avLst>
              <a:gd fmla="val 12000" name="adj"/>
            </a:avLst>
          </a:prstGeom>
          <a:solidFill>
            <a:srgbClr val="29B5E8"/>
          </a:solidFill>
          <a:ln>
            <a:noFill/>
          </a:ln>
        </p:spPr>
        <p:txBody>
          <a:bodyPr anchorCtr="0" anchor="ctr" bIns="18275" lIns="82275" spcFirstLastPara="1" rIns="82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40" u="none" cap="none" strike="noStrike">
                <a:solidFill>
                  <a:srgbClr val="063A5A"/>
                </a:solidFill>
                <a:latin typeface="Manrope"/>
                <a:ea typeface="Manrope"/>
                <a:cs typeface="Manrope"/>
                <a:sym typeface="Manrope"/>
              </a:rPr>
              <a:t>CORTEX ANALYST   →   SEMANTIC VIEW — SINGLE SOURCE OF TRUTH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819" u="none" cap="none" strike="noStrike">
                <a:solidFill>
                  <a:srgbClr val="064A6E"/>
                </a:solidFill>
                <a:latin typeface="Manrope"/>
                <a:ea typeface="Manrope"/>
                <a:cs typeface="Manrope"/>
                <a:sym typeface="Manrope"/>
              </a:rPr>
              <a:t>natural language → governed SQL  ·  12 tables · 12 relationships · 48 metrics · 7 canonical · 3 verified queries</a:t>
            </a:r>
            <a:endParaRPr/>
          </a:p>
        </p:txBody>
      </p:sp>
      <p:sp>
        <p:nvSpPr>
          <p:cNvPr id="92" name="Google Shape;92;p3"/>
          <p:cNvSpPr/>
          <p:nvPr/>
        </p:nvSpPr>
        <p:spPr>
          <a:xfrm>
            <a:off x="3543300" y="3521354"/>
            <a:ext cx="182880" cy="94183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29B5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457200" y="3621024"/>
            <a:ext cx="6355080" cy="457200"/>
          </a:xfrm>
          <a:prstGeom prst="roundRect">
            <a:avLst>
              <a:gd fmla="val 12000" name="adj"/>
            </a:avLst>
          </a:prstGeom>
          <a:solidFill>
            <a:srgbClr val="F5F9FE"/>
          </a:solidFill>
          <a:ln cap="flat" cmpd="sng" w="13950">
            <a:solidFill>
              <a:srgbClr val="B9D6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82275" spcFirstLastPara="1" rIns="82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40" u="none" cap="none" strike="noStrike">
                <a:solidFill>
                  <a:srgbClr val="0B2A4A"/>
                </a:solidFill>
                <a:latin typeface="Manrope"/>
                <a:ea typeface="Manrope"/>
                <a:cs typeface="Manrope"/>
                <a:sym typeface="Manrope"/>
              </a:rPr>
              <a:t>4 INCREMENTAL DYNAMIC TABLES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819" u="none" cap="none" strike="noStrike">
                <a:solidFill>
                  <a:srgbClr val="5B6B7A"/>
                </a:solidFill>
                <a:latin typeface="Manrope"/>
                <a:ea typeface="Manrope"/>
                <a:cs typeface="Manrope"/>
                <a:sym typeface="Manrope"/>
              </a:rPr>
              <a:t>refresh_mode = INCREMENTAL   ·   TARGET_LAG = 1 minute</a:t>
            </a:r>
            <a:endParaRPr/>
          </a:p>
        </p:txBody>
      </p:sp>
      <p:sp>
        <p:nvSpPr>
          <p:cNvPr id="94" name="Google Shape;94;p3"/>
          <p:cNvSpPr/>
          <p:nvPr/>
        </p:nvSpPr>
        <p:spPr>
          <a:xfrm>
            <a:off x="3543300" y="4083710"/>
            <a:ext cx="182880" cy="94183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29B5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457200" y="4183380"/>
            <a:ext cx="6355080" cy="457200"/>
          </a:xfrm>
          <a:prstGeom prst="roundRect">
            <a:avLst>
              <a:gd fmla="val 12000" name="adj"/>
            </a:avLst>
          </a:prstGeom>
          <a:solidFill>
            <a:srgbClr val="F0F3F7"/>
          </a:solidFill>
          <a:ln cap="flat" cmpd="sng" w="13950">
            <a:solidFill>
              <a:srgbClr val="CBD6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82275" spcFirstLastPara="1" rIns="82275" wrap="square" tIns="18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40" u="none" cap="none" strike="noStrike">
                <a:solidFill>
                  <a:srgbClr val="0B2A4A"/>
                </a:solidFill>
                <a:latin typeface="Manrope"/>
                <a:ea typeface="Manrope"/>
                <a:cs typeface="Manrope"/>
                <a:sym typeface="Manrope"/>
              </a:rPr>
              <a:t>RAW OPERATIONAL TABLES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819" u="none" cap="none" strike="noStrike">
                <a:solidFill>
                  <a:srgbClr val="5B6B7A"/>
                </a:solidFill>
                <a:latin typeface="Manrope"/>
                <a:ea typeface="Manrope"/>
                <a:cs typeface="Manrope"/>
                <a:sym typeface="Manrope"/>
              </a:rPr>
              <a:t>199 harvest lots · 23,880 sensor readings · 11,700 reefer rows · 195 shipments · 732 snapshots · 28 PO lines</a:t>
            </a:r>
            <a:endParaRPr/>
          </a:p>
        </p:txBody>
      </p:sp>
      <p:sp>
        <p:nvSpPr>
          <p:cNvPr id="96" name="Google Shape;96;p3"/>
          <p:cNvSpPr/>
          <p:nvPr/>
        </p:nvSpPr>
        <p:spPr>
          <a:xfrm>
            <a:off x="6967728" y="2496312"/>
            <a:ext cx="1719072" cy="2144268"/>
          </a:xfrm>
          <a:prstGeom prst="roundRect">
            <a:avLst>
              <a:gd fmla="val 8000" name="adj"/>
            </a:avLst>
          </a:prstGeom>
          <a:solidFill>
            <a:srgbClr val="FFF6E8"/>
          </a:solidFill>
          <a:ln cap="flat" cmpd="sng" w="13950">
            <a:solidFill>
              <a:srgbClr val="B36A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3"/>
          <p:cNvSpPr txBox="1"/>
          <p:nvPr/>
        </p:nvSpPr>
        <p:spPr>
          <a:xfrm>
            <a:off x="7077456" y="2587752"/>
            <a:ext cx="1499616" cy="1961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40" u="none" cap="none" strike="noStrike">
                <a:solidFill>
                  <a:srgbClr val="B36A00"/>
                </a:solidFill>
                <a:latin typeface="Manrope"/>
                <a:ea typeface="Manrope"/>
                <a:cs typeface="Manrope"/>
                <a:sym typeface="Manrope"/>
              </a:rPr>
              <a:t>GOVERNANCE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760" u="none" cap="none" strike="noStrike">
                <a:solidFill>
                  <a:srgbClr val="1F2A33"/>
                </a:solidFill>
                <a:latin typeface="Manrope"/>
                <a:ea typeface="Manrope"/>
                <a:cs typeface="Manrope"/>
                <a:sym typeface="Manrope"/>
              </a:rPr>
              <a:t>TOOLS procedures (13)</a:t>
            </a:r>
            <a:endParaRPr/>
          </a:p>
          <a:p>
            <a:pPr indent="0" lvl="0" marL="0" marR="0" rtl="0" algn="ctr">
              <a:lnSpc>
                <a:spcPct val="9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5B6B7A"/>
                </a:solidFill>
                <a:latin typeface="Manrope"/>
                <a:ea typeface="Manrope"/>
                <a:cs typeface="Manrope"/>
                <a:sym typeface="Manrope"/>
              </a:rPr>
              <a:t>read metrics FIRST from the semantic view, then mutate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760" u="none" cap="none" strike="noStrike">
                <a:solidFill>
                  <a:srgbClr val="1F2A33"/>
                </a:solidFill>
                <a:latin typeface="Manrope"/>
                <a:ea typeface="Manrope"/>
                <a:cs typeface="Manrope"/>
                <a:sym typeface="Manrope"/>
              </a:rPr>
              <a:t>AUDIT.DECISION_LOG</a:t>
            </a:r>
            <a:endParaRPr/>
          </a:p>
          <a:p>
            <a:pPr indent="0" lvl="0" marL="0" marR="0" rtl="0" algn="ctr">
              <a:lnSpc>
                <a:spcPct val="9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5B6B7A"/>
                </a:solidFill>
                <a:latin typeface="Manrope"/>
                <a:ea typeface="Manrope"/>
                <a:cs typeface="Manrope"/>
                <a:sym typeface="Manrope"/>
              </a:rPr>
              <a:t>metric snapshot joined to every state change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760" u="none" cap="none" strike="noStrike">
                <a:solidFill>
                  <a:srgbClr val="1F2A33"/>
                </a:solidFill>
                <a:latin typeface="Manrope"/>
                <a:ea typeface="Manrope"/>
                <a:cs typeface="Manrope"/>
                <a:sym typeface="Manrope"/>
              </a:rPr>
              <a:t>APPROVAL_QUEUE</a:t>
            </a:r>
            <a:endParaRPr/>
          </a:p>
          <a:p>
            <a:pPr indent="0" lvl="0" marL="0" marR="0" rtl="0" algn="ctr">
              <a:lnSpc>
                <a:spcPct val="95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680" u="none" cap="none" strike="noStrike">
                <a:solidFill>
                  <a:srgbClr val="5B6B7A"/>
                </a:solidFill>
                <a:latin typeface="Manrope"/>
                <a:ea typeface="Manrope"/>
                <a:cs typeface="Manrope"/>
                <a:sym typeface="Manrope"/>
              </a:rPr>
              <a:t>value-gated · human-in-the-loop</a:t>
            </a:r>
            <a:endParaRPr/>
          </a:p>
        </p:txBody>
      </p:sp>
      <p:sp>
        <p:nvSpPr>
          <p:cNvPr id="98" name="Google Shape;98;p3"/>
          <p:cNvSpPr/>
          <p:nvPr/>
        </p:nvSpPr>
        <p:spPr>
          <a:xfrm>
            <a:off x="6830568" y="2651760"/>
            <a:ext cx="128016" cy="14630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B36A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6821424" y="4338827"/>
            <a:ext cx="128016" cy="14630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B36A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4" title="Framewsxexexe 23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4"/>
          <p:cNvSpPr txBox="1"/>
          <p:nvPr/>
        </p:nvSpPr>
        <p:spPr>
          <a:xfrm>
            <a:off x="475488" y="548640"/>
            <a:ext cx="82296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B2A4A"/>
                </a:solidFill>
                <a:latin typeface="Manrope"/>
                <a:ea typeface="Manrope"/>
                <a:cs typeface="Manrope"/>
                <a:sym typeface="Manrope"/>
              </a:rPr>
              <a:t>CoCo CLI Integration &amp; Skills</a:t>
            </a: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493776" y="1188720"/>
            <a:ext cx="731520" cy="41148"/>
          </a:xfrm>
          <a:prstGeom prst="rect">
            <a:avLst/>
          </a:prstGeom>
          <a:solidFill>
            <a:srgbClr val="00C4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4"/>
          <p:cNvSpPr txBox="1"/>
          <p:nvPr/>
        </p:nvSpPr>
        <p:spPr>
          <a:xfrm>
            <a:off x="493776" y="914400"/>
            <a:ext cx="8229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B6B7A"/>
                </a:solidFill>
                <a:latin typeface="Manrope"/>
                <a:ea typeface="Manrope"/>
                <a:cs typeface="Manrope"/>
                <a:sym typeface="Manrope"/>
              </a:rPr>
              <a:t>How Snowflake CoCo CLI drives the build-and-verify loop</a:t>
            </a:r>
            <a:endParaRPr/>
          </a:p>
        </p:txBody>
      </p:sp>
      <p:sp>
        <p:nvSpPr>
          <p:cNvPr id="108" name="Google Shape;108;p4"/>
          <p:cNvSpPr txBox="1"/>
          <p:nvPr/>
        </p:nvSpPr>
        <p:spPr>
          <a:xfrm>
            <a:off x="685845" y="1042480"/>
            <a:ext cx="31089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5B6B7A"/>
                </a:solidFill>
                <a:latin typeface="Manrope"/>
                <a:ea typeface="Manrope"/>
                <a:cs typeface="Manrope"/>
                <a:sym typeface="Manrope"/>
              </a:rPr>
              <a:t>COCO CLI CAPABILITY</a:t>
            </a:r>
            <a:endParaRPr/>
          </a:p>
        </p:txBody>
      </p:sp>
      <p:sp>
        <p:nvSpPr>
          <p:cNvPr id="109" name="Google Shape;109;p4"/>
          <p:cNvSpPr txBox="1"/>
          <p:nvPr/>
        </p:nvSpPr>
        <p:spPr>
          <a:xfrm>
            <a:off x="3794760" y="1078992"/>
            <a:ext cx="48462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5B6B7A"/>
                </a:solidFill>
                <a:latin typeface="Manrope"/>
                <a:ea typeface="Manrope"/>
                <a:cs typeface="Manrope"/>
                <a:sym typeface="Manrope"/>
              </a:rPr>
              <a:t>WHAT IT DOES IN </a:t>
            </a:r>
            <a:r>
              <a:rPr b="1" lang="en-US" sz="950">
                <a:solidFill>
                  <a:srgbClr val="5B6B7A"/>
                </a:solidFill>
                <a:latin typeface="Manrope"/>
                <a:ea typeface="Manrope"/>
                <a:cs typeface="Manrope"/>
                <a:sym typeface="Manrope"/>
              </a:rPr>
              <a:t>BLUEBERRY CHAIN</a:t>
            </a:r>
            <a:endParaRPr/>
          </a:p>
        </p:txBody>
      </p:sp>
      <p:sp>
        <p:nvSpPr>
          <p:cNvPr id="110" name="Google Shape;110;p4"/>
          <p:cNvSpPr/>
          <p:nvPr/>
        </p:nvSpPr>
        <p:spPr>
          <a:xfrm>
            <a:off x="457200" y="1353312"/>
            <a:ext cx="8183879" cy="429768"/>
          </a:xfrm>
          <a:prstGeom prst="rect">
            <a:avLst/>
          </a:prstGeom>
          <a:solidFill>
            <a:srgbClr val="F5F9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457200" y="1353312"/>
            <a:ext cx="50292" cy="429768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4"/>
          <p:cNvSpPr txBox="1"/>
          <p:nvPr/>
        </p:nvSpPr>
        <p:spPr>
          <a:xfrm>
            <a:off x="621792" y="1353312"/>
            <a:ext cx="301752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B6FC2"/>
                </a:solidFill>
                <a:latin typeface="Manrope"/>
                <a:ea typeface="Manrope"/>
                <a:cs typeface="Manrope"/>
                <a:sym typeface="Manrope"/>
              </a:rPr>
              <a:t>#TABLE schema pull</a:t>
            </a:r>
            <a:endParaRPr/>
          </a:p>
        </p:txBody>
      </p:sp>
      <p:sp>
        <p:nvSpPr>
          <p:cNvPr id="113" name="Google Shape;113;p4"/>
          <p:cNvSpPr txBox="1"/>
          <p:nvPr/>
        </p:nvSpPr>
        <p:spPr>
          <a:xfrm>
            <a:off x="3794760" y="1353312"/>
            <a:ext cx="475488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9" u="none" cap="none" strike="noStrike">
                <a:solidFill>
                  <a:srgbClr val="1F2A33"/>
                </a:solidFill>
                <a:latin typeface="Manrope"/>
                <a:ea typeface="Manrope"/>
                <a:cs typeface="Manrope"/>
                <a:sym typeface="Manrope"/>
              </a:rPr>
              <a:t>Pulls column definitions + sample rows for RAW / CURATED tables — no hand-written schema</a:t>
            </a:r>
            <a:endParaRPr/>
          </a:p>
        </p:txBody>
      </p:sp>
      <p:sp>
        <p:nvSpPr>
          <p:cNvPr id="114" name="Google Shape;114;p4"/>
          <p:cNvSpPr/>
          <p:nvPr/>
        </p:nvSpPr>
        <p:spPr>
          <a:xfrm>
            <a:off x="457200" y="1824228"/>
            <a:ext cx="50292" cy="429768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4"/>
          <p:cNvSpPr txBox="1"/>
          <p:nvPr/>
        </p:nvSpPr>
        <p:spPr>
          <a:xfrm>
            <a:off x="621792" y="1824228"/>
            <a:ext cx="301752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B6FC2"/>
                </a:solidFill>
                <a:latin typeface="Manrope"/>
                <a:ea typeface="Manrope"/>
                <a:cs typeface="Manrope"/>
                <a:sym typeface="Manrope"/>
              </a:rPr>
              <a:t>$dynamic-tables skill</a:t>
            </a:r>
            <a:endParaRPr/>
          </a:p>
        </p:txBody>
      </p:sp>
      <p:sp>
        <p:nvSpPr>
          <p:cNvPr id="116" name="Google Shape;116;p4"/>
          <p:cNvSpPr txBox="1"/>
          <p:nvPr/>
        </p:nvSpPr>
        <p:spPr>
          <a:xfrm>
            <a:off x="3794760" y="1824228"/>
            <a:ext cx="475488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9" u="none" cap="none" strike="noStrike">
                <a:solidFill>
                  <a:srgbClr val="1F2A33"/>
                </a:solidFill>
                <a:latin typeface="Manrope"/>
                <a:ea typeface="Manrope"/>
                <a:cs typeface="Manrope"/>
                <a:sym typeface="Manrope"/>
              </a:rPr>
              <a:t>Authored the 4 INCREMENTAL Dynamic Tables (refresh_mode = INCREMENTAL, TARGET_LAG = 1 min)</a:t>
            </a:r>
            <a:endParaRPr/>
          </a:p>
        </p:txBody>
      </p:sp>
      <p:sp>
        <p:nvSpPr>
          <p:cNvPr id="117" name="Google Shape;117;p4"/>
          <p:cNvSpPr/>
          <p:nvPr/>
        </p:nvSpPr>
        <p:spPr>
          <a:xfrm>
            <a:off x="457200" y="2295144"/>
            <a:ext cx="8183879" cy="429768"/>
          </a:xfrm>
          <a:prstGeom prst="rect">
            <a:avLst/>
          </a:prstGeom>
          <a:solidFill>
            <a:srgbClr val="F5F9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457200" y="2295144"/>
            <a:ext cx="50292" cy="429768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4"/>
          <p:cNvSpPr txBox="1"/>
          <p:nvPr/>
        </p:nvSpPr>
        <p:spPr>
          <a:xfrm>
            <a:off x="621792" y="2295144"/>
            <a:ext cx="301752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B6FC2"/>
                </a:solidFill>
                <a:latin typeface="Manrope"/>
                <a:ea typeface="Manrope"/>
                <a:cs typeface="Manrope"/>
                <a:sym typeface="Manrope"/>
              </a:rPr>
              <a:t>$semantic-view skill</a:t>
            </a:r>
            <a:endParaRPr/>
          </a:p>
        </p:txBody>
      </p:sp>
      <p:sp>
        <p:nvSpPr>
          <p:cNvPr id="120" name="Google Shape;120;p4"/>
          <p:cNvSpPr txBox="1"/>
          <p:nvPr/>
        </p:nvSpPr>
        <p:spPr>
          <a:xfrm>
            <a:off x="3794760" y="2295144"/>
            <a:ext cx="475488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9" u="none" cap="none" strike="noStrike">
                <a:solidFill>
                  <a:srgbClr val="1F2A33"/>
                </a:solidFill>
                <a:latin typeface="Manrope"/>
                <a:ea typeface="Manrope"/>
                <a:cs typeface="Manrope"/>
                <a:sym typeface="Manrope"/>
              </a:rPr>
              <a:t>Created &amp; audited the semantic view — 48 metrics, 3 verified queries, VQR testing</a:t>
            </a:r>
            <a:endParaRPr/>
          </a:p>
        </p:txBody>
      </p:sp>
      <p:sp>
        <p:nvSpPr>
          <p:cNvPr id="121" name="Google Shape;121;p4"/>
          <p:cNvSpPr/>
          <p:nvPr/>
        </p:nvSpPr>
        <p:spPr>
          <a:xfrm>
            <a:off x="457200" y="2766060"/>
            <a:ext cx="50292" cy="429768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4"/>
          <p:cNvSpPr txBox="1"/>
          <p:nvPr/>
        </p:nvSpPr>
        <p:spPr>
          <a:xfrm>
            <a:off x="621792" y="2766060"/>
            <a:ext cx="301752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B6FC2"/>
                </a:solidFill>
                <a:latin typeface="Manrope"/>
                <a:ea typeface="Manrope"/>
                <a:cs typeface="Manrope"/>
                <a:sym typeface="Manrope"/>
              </a:rPr>
              <a:t>$cortex-agent · $agent-optimize</a:t>
            </a:r>
            <a:endParaRPr/>
          </a:p>
        </p:txBody>
      </p:sp>
      <p:sp>
        <p:nvSpPr>
          <p:cNvPr id="123" name="Google Shape;123;p4"/>
          <p:cNvSpPr txBox="1"/>
          <p:nvPr/>
        </p:nvSpPr>
        <p:spPr>
          <a:xfrm>
            <a:off x="3794760" y="2766060"/>
            <a:ext cx="475488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9" u="none" cap="none" strike="noStrike">
                <a:solidFill>
                  <a:srgbClr val="1F2A33"/>
                </a:solidFill>
                <a:latin typeface="Manrope"/>
                <a:ea typeface="Manrope"/>
                <a:cs typeface="Manrope"/>
                <a:sym typeface="Manrope"/>
              </a:rPr>
              <a:t>Built the 8 Cortex Agents; tuned answer accuracy against the governed metrics</a:t>
            </a:r>
            <a:endParaRPr/>
          </a:p>
        </p:txBody>
      </p:sp>
      <p:sp>
        <p:nvSpPr>
          <p:cNvPr id="124" name="Google Shape;124;p4"/>
          <p:cNvSpPr/>
          <p:nvPr/>
        </p:nvSpPr>
        <p:spPr>
          <a:xfrm>
            <a:off x="457200" y="3236976"/>
            <a:ext cx="8183879" cy="429768"/>
          </a:xfrm>
          <a:prstGeom prst="rect">
            <a:avLst/>
          </a:prstGeom>
          <a:solidFill>
            <a:srgbClr val="F5F9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457200" y="3236976"/>
            <a:ext cx="50292" cy="429768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4"/>
          <p:cNvSpPr txBox="1"/>
          <p:nvPr/>
        </p:nvSpPr>
        <p:spPr>
          <a:xfrm>
            <a:off x="621792" y="3236976"/>
            <a:ext cx="301752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B6FC2"/>
                </a:solidFill>
                <a:latin typeface="Manrope"/>
                <a:ea typeface="Manrope"/>
                <a:cs typeface="Manrope"/>
                <a:sym typeface="Manrope"/>
              </a:rPr>
              <a:t>/sql  +  Plan Mode</a:t>
            </a:r>
            <a:endParaRPr/>
          </a:p>
        </p:txBody>
      </p:sp>
      <p:sp>
        <p:nvSpPr>
          <p:cNvPr id="127" name="Google Shape;127;p4"/>
          <p:cNvSpPr txBox="1"/>
          <p:nvPr/>
        </p:nvSpPr>
        <p:spPr>
          <a:xfrm>
            <a:off x="3794760" y="3236976"/>
            <a:ext cx="475488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9" u="none" cap="none" strike="noStrike">
                <a:solidFill>
                  <a:srgbClr val="1F2A33"/>
                </a:solidFill>
                <a:latin typeface="Manrope"/>
                <a:ea typeface="Manrope"/>
                <a:cs typeface="Manrope"/>
                <a:sym typeface="Manrope"/>
              </a:rPr>
              <a:t>Ran the 8 proof queries; each multi-step DDL approved before it executes</a:t>
            </a:r>
            <a:endParaRPr/>
          </a:p>
        </p:txBody>
      </p:sp>
      <p:sp>
        <p:nvSpPr>
          <p:cNvPr id="128" name="Google Shape;128;p4"/>
          <p:cNvSpPr/>
          <p:nvPr/>
        </p:nvSpPr>
        <p:spPr>
          <a:xfrm>
            <a:off x="457200" y="3707891"/>
            <a:ext cx="50292" cy="429768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4"/>
          <p:cNvSpPr txBox="1"/>
          <p:nvPr/>
        </p:nvSpPr>
        <p:spPr>
          <a:xfrm>
            <a:off x="621792" y="3707891"/>
            <a:ext cx="301752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B6FC2"/>
                </a:solidFill>
                <a:latin typeface="Manrope"/>
                <a:ea typeface="Manrope"/>
                <a:cs typeface="Manrope"/>
                <a:sym typeface="Manrope"/>
              </a:rPr>
              <a:t>MCP + connections.toml</a:t>
            </a:r>
            <a:endParaRPr/>
          </a:p>
        </p:txBody>
      </p:sp>
      <p:sp>
        <p:nvSpPr>
          <p:cNvPr id="130" name="Google Shape;130;p4"/>
          <p:cNvSpPr txBox="1"/>
          <p:nvPr/>
        </p:nvSpPr>
        <p:spPr>
          <a:xfrm>
            <a:off x="3794760" y="3707891"/>
            <a:ext cx="475488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9" u="none" cap="none" strike="noStrike">
                <a:solidFill>
                  <a:srgbClr val="1F2A33"/>
                </a:solidFill>
                <a:latin typeface="Manrope"/>
                <a:ea typeface="Manrope"/>
                <a:cs typeface="Manrope"/>
                <a:sym typeface="Manrope"/>
              </a:rPr>
              <a:t>Reuses the Snowflake CLI connection; external tools reached over MCP</a:t>
            </a:r>
            <a:endParaRPr/>
          </a:p>
        </p:txBody>
      </p:sp>
      <p:sp>
        <p:nvSpPr>
          <p:cNvPr id="131" name="Google Shape;131;p4"/>
          <p:cNvSpPr/>
          <p:nvPr/>
        </p:nvSpPr>
        <p:spPr>
          <a:xfrm>
            <a:off x="457200" y="4233672"/>
            <a:ext cx="8183879" cy="640080"/>
          </a:xfrm>
          <a:prstGeom prst="roundRect">
            <a:avLst>
              <a:gd fmla="val 6000" name="adj"/>
            </a:avLst>
          </a:prstGeom>
          <a:solidFill>
            <a:srgbClr val="EAF4FD"/>
          </a:solidFill>
          <a:ln cap="flat" cmpd="sng" w="13950">
            <a:solidFill>
              <a:srgbClr val="29B5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4"/>
          <p:cNvSpPr txBox="1"/>
          <p:nvPr/>
        </p:nvSpPr>
        <p:spPr>
          <a:xfrm>
            <a:off x="658375" y="4315975"/>
            <a:ext cx="78912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B36A00"/>
                </a:solidFill>
                <a:latin typeface="Manrope"/>
                <a:ea typeface="Manrope"/>
                <a:cs typeface="Manrope"/>
                <a:sym typeface="Manrope"/>
              </a:rPr>
              <a:t>AUTOMATED VERIFICATION   </a:t>
            </a:r>
            <a:r>
              <a:rPr b="0" i="0" lang="en-US" sz="1050" u="none" cap="none" strike="noStrike">
                <a:solidFill>
                  <a:srgbClr val="1F2A33"/>
                </a:solidFill>
                <a:latin typeface="Manrope"/>
                <a:ea typeface="Manrope"/>
                <a:cs typeface="Manrope"/>
                <a:sym typeface="Manrope"/>
              </a:rPr>
              <a:t>8 proof queries · VQR tests · autonomy-policy checks · audit-snapshot assertions re-run end-to-end.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50" u="none" cap="none" strike="noStrike">
                <a:solidFill>
                  <a:srgbClr val="5B6B7A"/>
                </a:solidFill>
                <a:latin typeface="Manrope"/>
                <a:ea typeface="Manrope"/>
                <a:cs typeface="Manrope"/>
                <a:sym typeface="Manrope"/>
              </a:rPr>
              <a:t>100% Snowflake-native — every step is reproducible from version-controlled DDL.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5" title="Framewsxexexe 23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5"/>
          <p:cNvSpPr txBox="1"/>
          <p:nvPr/>
        </p:nvSpPr>
        <p:spPr>
          <a:xfrm>
            <a:off x="475488" y="548640"/>
            <a:ext cx="82296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B2A4A"/>
                </a:solidFill>
                <a:latin typeface="Manrope"/>
                <a:ea typeface="Manrope"/>
                <a:cs typeface="Manrope"/>
                <a:sym typeface="Manrope"/>
              </a:rPr>
              <a:t>Measurable Impact &amp; Business Value</a:t>
            </a:r>
            <a:endParaRPr/>
          </a:p>
        </p:txBody>
      </p:sp>
      <p:sp>
        <p:nvSpPr>
          <p:cNvPr id="139" name="Google Shape;139;p5"/>
          <p:cNvSpPr/>
          <p:nvPr/>
        </p:nvSpPr>
        <p:spPr>
          <a:xfrm>
            <a:off x="493776" y="1188720"/>
            <a:ext cx="731520" cy="41148"/>
          </a:xfrm>
          <a:prstGeom prst="rect">
            <a:avLst/>
          </a:prstGeom>
          <a:solidFill>
            <a:srgbClr val="00C4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5"/>
          <p:cNvSpPr txBox="1"/>
          <p:nvPr/>
        </p:nvSpPr>
        <p:spPr>
          <a:xfrm>
            <a:off x="493776" y="914400"/>
            <a:ext cx="8229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B6B7A"/>
                </a:solidFill>
                <a:latin typeface="Manrope"/>
                <a:ea typeface="Manrope"/>
                <a:cs typeface="Manrope"/>
                <a:sym typeface="Manrope"/>
              </a:rPr>
              <a:t>Measured live on Snowflake (account IT92561)</a:t>
            </a:r>
            <a:endParaRPr/>
          </a:p>
        </p:txBody>
      </p:sp>
      <p:sp>
        <p:nvSpPr>
          <p:cNvPr id="141" name="Google Shape;141;p5"/>
          <p:cNvSpPr/>
          <p:nvPr/>
        </p:nvSpPr>
        <p:spPr>
          <a:xfrm>
            <a:off x="502920" y="1353312"/>
            <a:ext cx="1947672" cy="932688"/>
          </a:xfrm>
          <a:prstGeom prst="roundRect">
            <a:avLst>
              <a:gd fmla="val 6000" name="adj"/>
            </a:avLst>
          </a:prstGeom>
          <a:solidFill>
            <a:srgbClr val="EAF4FD"/>
          </a:solidFill>
          <a:ln cap="flat" cmpd="sng" w="13950">
            <a:solidFill>
              <a:srgbClr val="29B5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5"/>
          <p:cNvSpPr txBox="1"/>
          <p:nvPr/>
        </p:nvSpPr>
        <p:spPr>
          <a:xfrm>
            <a:off x="649224" y="1426464"/>
            <a:ext cx="1673351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B2A4A"/>
                </a:solidFill>
                <a:latin typeface="Manrope"/>
                <a:ea typeface="Manrope"/>
                <a:cs typeface="Manrope"/>
                <a:sym typeface="Manrope"/>
              </a:rPr>
              <a:t>47 / 47</a:t>
            </a:r>
            <a:endParaRPr/>
          </a:p>
        </p:txBody>
      </p:sp>
      <p:sp>
        <p:nvSpPr>
          <p:cNvPr id="143" name="Google Shape;143;p5"/>
          <p:cNvSpPr txBox="1"/>
          <p:nvPr/>
        </p:nvSpPr>
        <p:spPr>
          <a:xfrm>
            <a:off x="649224" y="1828800"/>
            <a:ext cx="1673351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5B6B7A"/>
                </a:solidFill>
                <a:latin typeface="Manrope"/>
                <a:ea typeface="Manrope"/>
                <a:cs typeface="Manrope"/>
                <a:sym typeface="Manrope"/>
              </a:rPr>
              <a:t>arrivals invoiced autonomously — $1.85M net settled</a:t>
            </a:r>
            <a:endParaRPr/>
          </a:p>
        </p:txBody>
      </p:sp>
      <p:sp>
        <p:nvSpPr>
          <p:cNvPr id="144" name="Google Shape;144;p5"/>
          <p:cNvSpPr/>
          <p:nvPr/>
        </p:nvSpPr>
        <p:spPr>
          <a:xfrm>
            <a:off x="2569463" y="1353312"/>
            <a:ext cx="1947672" cy="932688"/>
          </a:xfrm>
          <a:prstGeom prst="roundRect">
            <a:avLst>
              <a:gd fmla="val 6000" name="adj"/>
            </a:avLst>
          </a:prstGeom>
          <a:solidFill>
            <a:srgbClr val="EAF4FD"/>
          </a:solidFill>
          <a:ln cap="flat" cmpd="sng" w="13950">
            <a:solidFill>
              <a:srgbClr val="29B5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5"/>
          <p:cNvSpPr txBox="1"/>
          <p:nvPr/>
        </p:nvSpPr>
        <p:spPr>
          <a:xfrm>
            <a:off x="2715768" y="1426464"/>
            <a:ext cx="1673351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B2A4A"/>
                </a:solidFill>
                <a:latin typeface="Manrope"/>
                <a:ea typeface="Manrope"/>
                <a:cs typeface="Manrope"/>
                <a:sym typeface="Manrope"/>
              </a:rPr>
              <a:t>19-step</a:t>
            </a:r>
            <a:endParaRPr/>
          </a:p>
        </p:txBody>
      </p:sp>
      <p:sp>
        <p:nvSpPr>
          <p:cNvPr id="146" name="Google Shape;146;p5"/>
          <p:cNvSpPr txBox="1"/>
          <p:nvPr/>
        </p:nvSpPr>
        <p:spPr>
          <a:xfrm>
            <a:off x="2715768" y="1828800"/>
            <a:ext cx="1673351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5B6B7A"/>
                </a:solidFill>
                <a:latin typeface="Manrope"/>
                <a:ea typeface="Manrope"/>
                <a:cs typeface="Manrope"/>
                <a:sym typeface="Manrope"/>
              </a:rPr>
              <a:t>autonomous chain from one sentence; confirms before it spends</a:t>
            </a:r>
            <a:endParaRPr/>
          </a:p>
        </p:txBody>
      </p:sp>
      <p:sp>
        <p:nvSpPr>
          <p:cNvPr id="147" name="Google Shape;147;p5"/>
          <p:cNvSpPr/>
          <p:nvPr/>
        </p:nvSpPr>
        <p:spPr>
          <a:xfrm>
            <a:off x="4636007" y="1353312"/>
            <a:ext cx="1947672" cy="932688"/>
          </a:xfrm>
          <a:prstGeom prst="roundRect">
            <a:avLst>
              <a:gd fmla="val 6000" name="adj"/>
            </a:avLst>
          </a:prstGeom>
          <a:solidFill>
            <a:srgbClr val="EAF4FD"/>
          </a:solidFill>
          <a:ln cap="flat" cmpd="sng" w="13950">
            <a:solidFill>
              <a:srgbClr val="29B5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5"/>
          <p:cNvSpPr txBox="1"/>
          <p:nvPr/>
        </p:nvSpPr>
        <p:spPr>
          <a:xfrm>
            <a:off x="4782312" y="1426464"/>
            <a:ext cx="1673351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B2A4A"/>
                </a:solidFill>
                <a:latin typeface="Manrope"/>
                <a:ea typeface="Manrope"/>
                <a:cs typeface="Manrope"/>
                <a:sym typeface="Manrope"/>
              </a:rPr>
              <a:t>3.5×</a:t>
            </a:r>
            <a:endParaRPr/>
          </a:p>
        </p:txBody>
      </p:sp>
      <p:sp>
        <p:nvSpPr>
          <p:cNvPr id="149" name="Google Shape;149;p5"/>
          <p:cNvSpPr txBox="1"/>
          <p:nvPr/>
        </p:nvSpPr>
        <p:spPr>
          <a:xfrm>
            <a:off x="4782312" y="1828800"/>
            <a:ext cx="1673351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5B6B7A"/>
                </a:solidFill>
                <a:latin typeface="Manrope"/>
                <a:ea typeface="Manrope"/>
                <a:cs typeface="Manrope"/>
                <a:sym typeface="Manrope"/>
              </a:rPr>
              <a:t>availability overstatement blocked by the semi-additive guard</a:t>
            </a:r>
            <a:endParaRPr/>
          </a:p>
        </p:txBody>
      </p:sp>
      <p:sp>
        <p:nvSpPr>
          <p:cNvPr id="150" name="Google Shape;150;p5"/>
          <p:cNvSpPr/>
          <p:nvPr/>
        </p:nvSpPr>
        <p:spPr>
          <a:xfrm>
            <a:off x="6702551" y="1353312"/>
            <a:ext cx="1947672" cy="932688"/>
          </a:xfrm>
          <a:prstGeom prst="roundRect">
            <a:avLst>
              <a:gd fmla="val 6000" name="adj"/>
            </a:avLst>
          </a:prstGeom>
          <a:solidFill>
            <a:srgbClr val="EAF4FD"/>
          </a:solidFill>
          <a:ln cap="flat" cmpd="sng" w="13950">
            <a:solidFill>
              <a:srgbClr val="29B5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5"/>
          <p:cNvSpPr txBox="1"/>
          <p:nvPr/>
        </p:nvSpPr>
        <p:spPr>
          <a:xfrm>
            <a:off x="6848855" y="1426464"/>
            <a:ext cx="1673351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B2A4A"/>
                </a:solidFill>
                <a:latin typeface="Manrope"/>
                <a:ea typeface="Manrope"/>
                <a:cs typeface="Manrope"/>
                <a:sym typeface="Manrope"/>
              </a:rPr>
              <a:t>7</a:t>
            </a:r>
            <a:endParaRPr/>
          </a:p>
        </p:txBody>
      </p:sp>
      <p:sp>
        <p:nvSpPr>
          <p:cNvPr id="152" name="Google Shape;152;p5"/>
          <p:cNvSpPr txBox="1"/>
          <p:nvPr/>
        </p:nvSpPr>
        <p:spPr>
          <a:xfrm>
            <a:off x="6848855" y="1828800"/>
            <a:ext cx="1673351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5B6B7A"/>
                </a:solidFill>
                <a:latin typeface="Manrope"/>
                <a:ea typeface="Manrope"/>
                <a:cs typeface="Manrope"/>
                <a:sym typeface="Manrope"/>
              </a:rPr>
              <a:t>canonical metrics defined exactly once — asserted</a:t>
            </a:r>
            <a:endParaRPr/>
          </a:p>
        </p:txBody>
      </p:sp>
      <p:sp>
        <p:nvSpPr>
          <p:cNvPr id="153" name="Google Shape;153;p5"/>
          <p:cNvSpPr txBox="1"/>
          <p:nvPr/>
        </p:nvSpPr>
        <p:spPr>
          <a:xfrm>
            <a:off x="502920" y="2487168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9B5E8"/>
                </a:solidFill>
                <a:latin typeface="Manrope"/>
                <a:ea typeface="Manrope"/>
                <a:cs typeface="Manrope"/>
                <a:sym typeface="Manrope"/>
              </a:rPr>
              <a:t>SCALABILITY</a:t>
            </a:r>
            <a:endParaRPr/>
          </a:p>
        </p:txBody>
      </p:sp>
      <p:sp>
        <p:nvSpPr>
          <p:cNvPr id="154" name="Google Shape;154;p5"/>
          <p:cNvSpPr txBox="1"/>
          <p:nvPr/>
        </p:nvSpPr>
        <p:spPr>
          <a:xfrm>
            <a:off x="502920" y="2761488"/>
            <a:ext cx="46177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46304" lvl="0" marL="146304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9" u="none" cap="none" strike="noStrike">
                <a:solidFill>
                  <a:srgbClr val="29B5E8"/>
                </a:solidFill>
                <a:latin typeface="Manrope"/>
                <a:ea typeface="Manrope"/>
                <a:cs typeface="Manrope"/>
                <a:sym typeface="Manrope"/>
              </a:rPr>
              <a:t>•  </a:t>
            </a:r>
            <a:r>
              <a:rPr b="1" i="0" lang="en-US" sz="1019" u="none" cap="none" strike="noStrike">
                <a:solidFill>
                  <a:srgbClr val="0B2A4A"/>
                </a:solidFill>
                <a:latin typeface="Manrope"/>
                <a:ea typeface="Manrope"/>
                <a:cs typeface="Manrope"/>
                <a:sym typeface="Manrope"/>
              </a:rPr>
              <a:t>Loaded: </a:t>
            </a:r>
            <a:r>
              <a:rPr b="0" i="0" lang="en-US" sz="1019" u="none" cap="none" strike="noStrike">
                <a:solidFill>
                  <a:srgbClr val="1F2A33"/>
                </a:solidFill>
                <a:latin typeface="Manrope"/>
                <a:ea typeface="Manrope"/>
                <a:cs typeface="Manrope"/>
                <a:sym typeface="Manrope"/>
              </a:rPr>
              <a:t>199 lots · 23,880 sensor readings · 11,700 reefer rows · 195 shipments · 732 snapshots</a:t>
            </a:r>
            <a:endParaRPr/>
          </a:p>
          <a:p>
            <a:pPr indent="-146304" lvl="0" marL="146304" marR="0" rtl="0" algn="l">
              <a:lnSpc>
                <a:spcPct val="10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019" u="none" cap="none" strike="noStrike">
                <a:solidFill>
                  <a:srgbClr val="29B5E8"/>
                </a:solidFill>
                <a:latin typeface="Manrope"/>
                <a:ea typeface="Manrope"/>
                <a:cs typeface="Manrope"/>
                <a:sym typeface="Manrope"/>
              </a:rPr>
              <a:t>•  </a:t>
            </a:r>
            <a:r>
              <a:rPr b="1" i="0" lang="en-US" sz="1019" u="none" cap="none" strike="noStrike">
                <a:solidFill>
                  <a:srgbClr val="0B2A4A"/>
                </a:solidFill>
                <a:latin typeface="Manrope"/>
                <a:ea typeface="Manrope"/>
                <a:cs typeface="Manrope"/>
                <a:sym typeface="Manrope"/>
              </a:rPr>
              <a:t>Table-driven autonomy policy</a:t>
            </a:r>
            <a:r>
              <a:rPr b="0" i="0" lang="en-US" sz="1019" u="none" cap="none" strike="noStrike">
                <a:solidFill>
                  <a:srgbClr val="1F2A33"/>
                </a:solidFill>
                <a:latin typeface="Manrope"/>
                <a:ea typeface="Manrope"/>
                <a:cs typeface="Manrope"/>
                <a:sym typeface="Manrope"/>
              </a:rPr>
              <a:t> — retune thresholds with no redeploy</a:t>
            </a:r>
            <a:endParaRPr/>
          </a:p>
          <a:p>
            <a:pPr indent="-146304" lvl="0" marL="146304" marR="0" rtl="0" algn="l">
              <a:lnSpc>
                <a:spcPct val="10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019" u="none" cap="none" strike="noStrike">
                <a:solidFill>
                  <a:srgbClr val="29B5E8"/>
                </a:solidFill>
                <a:latin typeface="Manrope"/>
                <a:ea typeface="Manrope"/>
                <a:cs typeface="Manrope"/>
                <a:sym typeface="Manrope"/>
              </a:rPr>
              <a:t>•  </a:t>
            </a:r>
            <a:r>
              <a:rPr b="1" i="0" lang="en-US" sz="1019" u="none" cap="none" strike="noStrike">
                <a:solidFill>
                  <a:srgbClr val="0B2A4A"/>
                </a:solidFill>
                <a:latin typeface="Manrope"/>
                <a:ea typeface="Manrope"/>
                <a:cs typeface="Manrope"/>
                <a:sym typeface="Manrope"/>
              </a:rPr>
              <a:t>Add a 9th agent in 6 documented steps</a:t>
            </a:r>
            <a:r>
              <a:rPr b="0" i="0" lang="en-US" sz="1019" u="none" cap="none" strike="noStrike">
                <a:solidFill>
                  <a:srgbClr val="1F2A33"/>
                </a:solidFill>
                <a:latin typeface="Manrope"/>
                <a:ea typeface="Manrope"/>
                <a:cs typeface="Manrope"/>
                <a:sym typeface="Manrope"/>
              </a:rPr>
              <a:t>; multi-party consortium ready</a:t>
            </a:r>
            <a:endParaRPr/>
          </a:p>
        </p:txBody>
      </p:sp>
      <p:sp>
        <p:nvSpPr>
          <p:cNvPr id="155" name="Google Shape;155;p5"/>
          <p:cNvSpPr txBox="1"/>
          <p:nvPr/>
        </p:nvSpPr>
        <p:spPr>
          <a:xfrm>
            <a:off x="502920" y="3913632"/>
            <a:ext cx="4572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9B5E8"/>
                </a:solidFill>
                <a:latin typeface="Manrope"/>
                <a:ea typeface="Manrope"/>
                <a:cs typeface="Manrope"/>
                <a:sym typeface="Manrope"/>
              </a:rPr>
              <a:t>BEYOND THE DEMO</a:t>
            </a:r>
            <a:endParaRPr/>
          </a:p>
        </p:txBody>
      </p:sp>
      <p:sp>
        <p:nvSpPr>
          <p:cNvPr id="156" name="Google Shape;156;p5"/>
          <p:cNvSpPr txBox="1"/>
          <p:nvPr/>
        </p:nvSpPr>
        <p:spPr>
          <a:xfrm>
            <a:off x="502920" y="4187952"/>
            <a:ext cx="4617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46304" lvl="0" marL="146304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9" u="none" cap="none" strike="noStrike">
                <a:solidFill>
                  <a:srgbClr val="29B5E8"/>
                </a:solidFill>
                <a:latin typeface="Manrope"/>
                <a:ea typeface="Manrope"/>
                <a:cs typeface="Manrope"/>
                <a:sym typeface="Manrope"/>
              </a:rPr>
              <a:t>•  </a:t>
            </a:r>
            <a:r>
              <a:rPr b="1" i="0" lang="en-US" sz="1019" u="none" cap="none" strike="noStrike">
                <a:solidFill>
                  <a:srgbClr val="0B2A4A"/>
                </a:solidFill>
                <a:latin typeface="Manrope"/>
                <a:ea typeface="Manrope"/>
                <a:cs typeface="Manrope"/>
                <a:sym typeface="Manrope"/>
              </a:rPr>
              <a:t>8 agents fully implemented &amp; granted</a:t>
            </a:r>
            <a:r>
              <a:rPr b="0" i="0" lang="en-US" sz="1019" u="none" cap="none" strike="noStrike">
                <a:solidFill>
                  <a:srgbClr val="1F2A33"/>
                </a:solidFill>
                <a:latin typeface="Manrope"/>
                <a:ea typeface="Manrope"/>
                <a:cs typeface="Manrope"/>
                <a:sym typeface="Manrope"/>
              </a:rPr>
              <a:t>; Supervisor published to Snowflake CoWork</a:t>
            </a:r>
            <a:endParaRPr/>
          </a:p>
          <a:p>
            <a:pPr indent="-146304" lvl="0" marL="146304" marR="0" rtl="0" algn="l">
              <a:lnSpc>
                <a:spcPct val="10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019" u="none" cap="none" strike="noStrike">
                <a:solidFill>
                  <a:srgbClr val="29B5E8"/>
                </a:solidFill>
                <a:latin typeface="Manrope"/>
                <a:ea typeface="Manrope"/>
                <a:cs typeface="Manrope"/>
                <a:sym typeface="Manrope"/>
              </a:rPr>
              <a:t>•  </a:t>
            </a:r>
            <a:r>
              <a:rPr b="1" i="0" lang="en-US" sz="1019" u="none" cap="none" strike="noStrike">
                <a:solidFill>
                  <a:srgbClr val="0B2A4A"/>
                </a:solidFill>
                <a:latin typeface="Manrope"/>
                <a:ea typeface="Manrope"/>
                <a:cs typeface="Manrope"/>
                <a:sym typeface="Manrope"/>
              </a:rPr>
              <a:t>Server-side value gates</a:t>
            </a:r>
            <a:r>
              <a:rPr b="0" i="0" lang="en-US" sz="1019" u="none" cap="none" strike="noStrike">
                <a:solidFill>
                  <a:srgbClr val="1F2A33"/>
                </a:solidFill>
                <a:latin typeface="Manrope"/>
                <a:ea typeface="Manrope"/>
                <a:cs typeface="Manrope"/>
                <a:sym typeface="Manrope"/>
              </a:rPr>
              <a:t> — no pending approval ever leaked a side effect</a:t>
            </a:r>
            <a:endParaRPr/>
          </a:p>
        </p:txBody>
      </p:sp>
      <p:sp>
        <p:nvSpPr>
          <p:cNvPr id="157" name="Google Shape;157;p5"/>
          <p:cNvSpPr/>
          <p:nvPr/>
        </p:nvSpPr>
        <p:spPr>
          <a:xfrm>
            <a:off x="5376672" y="2395728"/>
            <a:ext cx="3291840" cy="2487168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3950">
            <a:solidFill>
              <a:srgbClr val="B9D6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5"/>
          <p:cNvSpPr txBox="1"/>
          <p:nvPr/>
        </p:nvSpPr>
        <p:spPr>
          <a:xfrm>
            <a:off x="5522976" y="2505456"/>
            <a:ext cx="2999232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9" u="none" cap="none" strike="noStrike">
                <a:solidFill>
                  <a:srgbClr val="0B2A4A"/>
                </a:solidFill>
                <a:latin typeface="Manrope"/>
                <a:ea typeface="Manrope"/>
                <a:cs typeface="Manrope"/>
                <a:sym typeface="Manrope"/>
              </a:rPr>
              <a:t>Semi-additive guard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840" u="none" cap="none" strike="noStrike">
                <a:solidFill>
                  <a:srgbClr val="5B6B7A"/>
                </a:solidFill>
                <a:latin typeface="Manrope"/>
                <a:ea typeface="Manrope"/>
                <a:cs typeface="Manrope"/>
                <a:sym typeface="Manrope"/>
              </a:rPr>
              <a:t>availability overstated 3.5× without it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27A54"/>
                </a:solidFill>
                <a:latin typeface="Manrope"/>
                <a:ea typeface="Manrope"/>
                <a:cs typeface="Manrope"/>
                <a:sym typeface="Manrope"/>
              </a:rPr>
              <a:t>−71%  false availability</a:t>
            </a:r>
            <a:endParaRPr/>
          </a:p>
        </p:txBody>
      </p:sp>
      <p:sp>
        <p:nvSpPr>
          <p:cNvPr id="159" name="Google Shape;159;p5"/>
          <p:cNvSpPr/>
          <p:nvPr/>
        </p:nvSpPr>
        <p:spPr>
          <a:xfrm>
            <a:off x="6016752" y="3328416"/>
            <a:ext cx="822960" cy="1152144"/>
          </a:xfrm>
          <a:prstGeom prst="rect">
            <a:avLst/>
          </a:prstGeom>
          <a:solidFill>
            <a:srgbClr val="B36A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7223760" y="4149719"/>
            <a:ext cx="822960" cy="33084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5687568" y="4480560"/>
            <a:ext cx="2670048" cy="16459"/>
          </a:xfrm>
          <a:prstGeom prst="rect">
            <a:avLst/>
          </a:prstGeom>
          <a:solidFill>
            <a:srgbClr val="CBD6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5"/>
          <p:cNvSpPr txBox="1"/>
          <p:nvPr/>
        </p:nvSpPr>
        <p:spPr>
          <a:xfrm>
            <a:off x="5879592" y="3374136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1.689M kg</a:t>
            </a:r>
            <a:endParaRPr/>
          </a:p>
        </p:txBody>
      </p:sp>
      <p:sp>
        <p:nvSpPr>
          <p:cNvPr id="163" name="Google Shape;163;p5"/>
          <p:cNvSpPr txBox="1"/>
          <p:nvPr/>
        </p:nvSpPr>
        <p:spPr>
          <a:xfrm>
            <a:off x="7086600" y="3893687"/>
            <a:ext cx="10972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B2A4A"/>
                </a:solidFill>
                <a:latin typeface="Manrope"/>
                <a:ea typeface="Manrope"/>
                <a:cs typeface="Manrope"/>
                <a:sym typeface="Manrope"/>
              </a:rPr>
              <a:t>0.485M kg</a:t>
            </a:r>
            <a:endParaRPr/>
          </a:p>
        </p:txBody>
      </p:sp>
      <p:sp>
        <p:nvSpPr>
          <p:cNvPr id="164" name="Google Shape;164;p5"/>
          <p:cNvSpPr txBox="1"/>
          <p:nvPr/>
        </p:nvSpPr>
        <p:spPr>
          <a:xfrm>
            <a:off x="5788152" y="4535424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40" u="none" cap="none" strike="noStrike">
                <a:solidFill>
                  <a:srgbClr val="1F2A33"/>
                </a:solidFill>
                <a:latin typeface="Manrope"/>
                <a:ea typeface="Manrope"/>
                <a:cs typeface="Manrope"/>
                <a:sym typeface="Manrope"/>
              </a:rPr>
              <a:t>Naive SUM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" u="none" cap="none" strike="noStrike">
                <a:solidFill>
                  <a:srgbClr val="5B6B7A"/>
                </a:solidFill>
                <a:latin typeface="Manrope"/>
                <a:ea typeface="Manrope"/>
                <a:cs typeface="Manrope"/>
                <a:sym typeface="Manrope"/>
              </a:rPr>
              <a:t>across snapshots</a:t>
            </a:r>
            <a:endParaRPr/>
          </a:p>
        </p:txBody>
      </p:sp>
      <p:sp>
        <p:nvSpPr>
          <p:cNvPr id="165" name="Google Shape;165;p5"/>
          <p:cNvSpPr txBox="1"/>
          <p:nvPr/>
        </p:nvSpPr>
        <p:spPr>
          <a:xfrm>
            <a:off x="6995160" y="4535424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40" u="none" cap="none" strike="noStrike">
                <a:solidFill>
                  <a:srgbClr val="1F2A33"/>
                </a:solidFill>
                <a:latin typeface="Manrope"/>
                <a:ea typeface="Manrope"/>
                <a:cs typeface="Manrope"/>
                <a:sym typeface="Manrope"/>
              </a:rPr>
              <a:t>Governed view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" u="none" cap="none" strike="noStrike">
                <a:solidFill>
                  <a:srgbClr val="5B6B7A"/>
                </a:solidFill>
                <a:latin typeface="Manrope"/>
                <a:ea typeface="Manrope"/>
                <a:cs typeface="Manrope"/>
                <a:sym typeface="Manrope"/>
              </a:rPr>
              <a:t>semantic source of truth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6" title="Framewsxexexe 23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6"/>
          <p:cNvSpPr txBox="1"/>
          <p:nvPr/>
        </p:nvSpPr>
        <p:spPr>
          <a:xfrm>
            <a:off x="475488" y="548640"/>
            <a:ext cx="82296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B2A4A"/>
                </a:solidFill>
                <a:latin typeface="Manrope"/>
                <a:ea typeface="Manrope"/>
                <a:cs typeface="Manrope"/>
                <a:sym typeface="Manrope"/>
              </a:rPr>
              <a:t>Prototype Demo &amp; Future Roadmap</a:t>
            </a:r>
            <a:endParaRPr/>
          </a:p>
        </p:txBody>
      </p:sp>
      <p:sp>
        <p:nvSpPr>
          <p:cNvPr id="172" name="Google Shape;172;p6"/>
          <p:cNvSpPr/>
          <p:nvPr/>
        </p:nvSpPr>
        <p:spPr>
          <a:xfrm>
            <a:off x="493776" y="1188720"/>
            <a:ext cx="731520" cy="41148"/>
          </a:xfrm>
          <a:prstGeom prst="rect">
            <a:avLst/>
          </a:prstGeom>
          <a:solidFill>
            <a:srgbClr val="00C4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6"/>
          <p:cNvSpPr txBox="1"/>
          <p:nvPr/>
        </p:nvSpPr>
        <p:spPr>
          <a:xfrm>
            <a:off x="493776" y="914400"/>
            <a:ext cx="8229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B6B7A"/>
                </a:solidFill>
                <a:latin typeface="Manrope"/>
                <a:ea typeface="Manrope"/>
                <a:cs typeface="Manrope"/>
                <a:sym typeface="Manrope"/>
              </a:rPr>
              <a:t>Working today — and where it goes next</a:t>
            </a:r>
            <a:endParaRPr/>
          </a:p>
        </p:txBody>
      </p:sp>
      <p:sp>
        <p:nvSpPr>
          <p:cNvPr id="174" name="Google Shape;174;p6"/>
          <p:cNvSpPr txBox="1"/>
          <p:nvPr/>
        </p:nvSpPr>
        <p:spPr>
          <a:xfrm>
            <a:off x="502920" y="1389888"/>
            <a:ext cx="40233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9B5E8"/>
                </a:solidFill>
                <a:latin typeface="Manrope"/>
                <a:ea typeface="Manrope"/>
                <a:cs typeface="Manrope"/>
                <a:sym typeface="Manrope"/>
              </a:rPr>
              <a:t>WORKING PROTOTYPE — IN THE REPO</a:t>
            </a:r>
            <a:endParaRPr/>
          </a:p>
        </p:txBody>
      </p:sp>
      <p:sp>
        <p:nvSpPr>
          <p:cNvPr id="175" name="Google Shape;175;p6"/>
          <p:cNvSpPr txBox="1"/>
          <p:nvPr/>
        </p:nvSpPr>
        <p:spPr>
          <a:xfrm>
            <a:off x="502920" y="1682496"/>
            <a:ext cx="3977639" cy="310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46304" lvl="0" marL="146304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9" u="none" cap="none" strike="noStrike">
                <a:solidFill>
                  <a:srgbClr val="29B5E8"/>
                </a:solidFill>
                <a:latin typeface="Manrope"/>
                <a:ea typeface="Manrope"/>
                <a:cs typeface="Manrope"/>
                <a:sym typeface="Manrope"/>
              </a:rPr>
              <a:t>•  </a:t>
            </a:r>
            <a:r>
              <a:rPr b="1" i="0" lang="en-US" sz="1019" u="none" cap="none" strike="noStrike">
                <a:solidFill>
                  <a:srgbClr val="0B2A4A"/>
                </a:solidFill>
                <a:latin typeface="Manrope"/>
                <a:ea typeface="Manrope"/>
                <a:cs typeface="Manrope"/>
                <a:sym typeface="Manrope"/>
              </a:rPr>
              <a:t>Demo 1 · temperature excursion </a:t>
            </a:r>
            <a:r>
              <a:rPr b="0" i="0" lang="en-US" sz="1019" u="none" cap="none" strike="noStrike">
                <a:solidFill>
                  <a:srgbClr val="1F2A33"/>
                </a:solidFill>
                <a:latin typeface="Manrope"/>
                <a:ea typeface="Manrope"/>
                <a:cs typeface="Manrope"/>
                <a:sym typeface="Manrope"/>
              </a:rPr>
              <a:t>— one sentence → HOLD_LOT → UPDATE_ATP → ADJUST_ORDER_PROMISE (Costco PO-6001) → credit note $19,792 → landed cost → notify → ranks coverage → asks to confirm</a:t>
            </a:r>
            <a:endParaRPr/>
          </a:p>
          <a:p>
            <a:pPr indent="-146304" lvl="0" marL="146304" marR="0" rtl="0" algn="l">
              <a:lnSpc>
                <a:spcPct val="10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019" u="none" cap="none" strike="noStrike">
                <a:solidFill>
                  <a:srgbClr val="29B5E8"/>
                </a:solidFill>
                <a:latin typeface="Manrope"/>
                <a:ea typeface="Manrope"/>
                <a:cs typeface="Manrope"/>
                <a:sym typeface="Manrope"/>
              </a:rPr>
              <a:t>•  </a:t>
            </a:r>
            <a:r>
              <a:rPr b="1" i="0" lang="en-US" sz="1019" u="none" cap="none" strike="noStrike">
                <a:solidFill>
                  <a:srgbClr val="0B2A4A"/>
                </a:solidFill>
                <a:latin typeface="Manrope"/>
                <a:ea typeface="Manrope"/>
                <a:cs typeface="Manrope"/>
                <a:sym typeface="Manrope"/>
              </a:rPr>
              <a:t>Demo 2 · settle arrivals </a:t>
            </a:r>
            <a:r>
              <a:rPr b="0" i="0" lang="en-US" sz="1019" u="none" cap="none" strike="noStrike">
                <a:solidFill>
                  <a:srgbClr val="1F2A33"/>
                </a:solidFill>
                <a:latin typeface="Manrope"/>
                <a:ea typeface="Manrope"/>
                <a:cs typeface="Manrope"/>
                <a:sym typeface="Manrope"/>
              </a:rPr>
              <a:t>— 47 invoices, $1.85M net, 47 grower settlements, downloadable PDFs</a:t>
            </a:r>
            <a:endParaRPr/>
          </a:p>
          <a:p>
            <a:pPr indent="-146304" lvl="0" marL="146304" marR="0" rtl="0" algn="l">
              <a:lnSpc>
                <a:spcPct val="10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019" u="none" cap="none" strike="noStrike">
                <a:solidFill>
                  <a:srgbClr val="29B5E8"/>
                </a:solidFill>
                <a:latin typeface="Manrope"/>
                <a:ea typeface="Manrope"/>
                <a:cs typeface="Manrope"/>
                <a:sym typeface="Manrope"/>
              </a:rPr>
              <a:t>•  </a:t>
            </a:r>
            <a:r>
              <a:rPr b="1" i="0" lang="en-US" sz="1019" u="none" cap="none" strike="noStrike">
                <a:solidFill>
                  <a:srgbClr val="0B2A4A"/>
                </a:solidFill>
                <a:latin typeface="Manrope"/>
                <a:ea typeface="Manrope"/>
                <a:cs typeface="Manrope"/>
                <a:sym typeface="Manrope"/>
              </a:rPr>
              <a:t>Premium chat UI </a:t>
            </a:r>
            <a:r>
              <a:rPr b="0" i="0" lang="en-US" sz="1019" u="none" cap="none" strike="noStrike">
                <a:solidFill>
                  <a:srgbClr val="1F2A33"/>
                </a:solidFill>
                <a:latin typeface="Manrope"/>
                <a:ea typeface="Manrope"/>
                <a:cs typeface="Manrope"/>
                <a:sym typeface="Manrope"/>
              </a:rPr>
              <a:t>— timeline · metric cards · status cards · Vega-Lite charts · document cards · Approve / Reject</a:t>
            </a:r>
            <a:endParaRPr/>
          </a:p>
          <a:p>
            <a:pPr indent="-146304" lvl="0" marL="146304" marR="0" rtl="0" algn="l">
              <a:lnSpc>
                <a:spcPct val="10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019" u="none" cap="none" strike="noStrike">
                <a:solidFill>
                  <a:srgbClr val="29B5E8"/>
                </a:solidFill>
                <a:latin typeface="Manrope"/>
                <a:ea typeface="Manrope"/>
                <a:cs typeface="Manrope"/>
                <a:sym typeface="Manrope"/>
              </a:rPr>
              <a:t>•  </a:t>
            </a:r>
            <a:r>
              <a:rPr b="1" i="0" lang="en-US" sz="1019" u="none" cap="none" strike="noStrike">
                <a:solidFill>
                  <a:srgbClr val="0B2A4A"/>
                </a:solidFill>
                <a:latin typeface="Manrope"/>
                <a:ea typeface="Manrope"/>
                <a:cs typeface="Manrope"/>
                <a:sym typeface="Manrope"/>
              </a:rPr>
              <a:t>Persistent memory</a:t>
            </a:r>
            <a:r>
              <a:rPr b="0" i="0" lang="en-US" sz="1019" u="none" cap="none" strike="noStrike">
                <a:solidFill>
                  <a:srgbClr val="1F2A33"/>
                </a:solidFill>
                <a:latin typeface="Manrope"/>
                <a:ea typeface="Manrope"/>
                <a:cs typeface="Manrope"/>
                <a:sym typeface="Manrope"/>
              </a:rPr>
              <a:t> in Snowflake Postgres; 8 asserted proof queries</a:t>
            </a:r>
            <a:endParaRPr/>
          </a:p>
        </p:txBody>
      </p:sp>
      <p:sp>
        <p:nvSpPr>
          <p:cNvPr id="176" name="Google Shape;176;p6"/>
          <p:cNvSpPr txBox="1"/>
          <p:nvPr/>
        </p:nvSpPr>
        <p:spPr>
          <a:xfrm>
            <a:off x="4754880" y="1389888"/>
            <a:ext cx="3931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9B5E8"/>
                </a:solidFill>
                <a:latin typeface="Manrope"/>
                <a:ea typeface="Manrope"/>
                <a:cs typeface="Manrope"/>
                <a:sym typeface="Manrope"/>
              </a:rPr>
              <a:t>ROADMAP</a:t>
            </a:r>
            <a:endParaRPr/>
          </a:p>
        </p:txBody>
      </p:sp>
      <p:sp>
        <p:nvSpPr>
          <p:cNvPr id="177" name="Google Shape;177;p6"/>
          <p:cNvSpPr txBox="1"/>
          <p:nvPr/>
        </p:nvSpPr>
        <p:spPr>
          <a:xfrm>
            <a:off x="4754880" y="1682496"/>
            <a:ext cx="3931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36A00"/>
                </a:solidFill>
                <a:latin typeface="Manrope"/>
                <a:ea typeface="Manrope"/>
                <a:cs typeface="Manrope"/>
                <a:sym typeface="Manrope"/>
              </a:rPr>
              <a:t>PHASE 2  ·  0–3 months</a:t>
            </a:r>
            <a:endParaRPr/>
          </a:p>
        </p:txBody>
      </p:sp>
      <p:sp>
        <p:nvSpPr>
          <p:cNvPr id="178" name="Google Shape;178;p6"/>
          <p:cNvSpPr txBox="1"/>
          <p:nvPr/>
        </p:nvSpPr>
        <p:spPr>
          <a:xfrm>
            <a:off x="4754880" y="1938528"/>
            <a:ext cx="38862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46304" lvl="0" marL="146304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9" u="none" cap="none" strike="noStrike">
                <a:solidFill>
                  <a:srgbClr val="29B5E8"/>
                </a:solidFill>
                <a:latin typeface="Manrope"/>
                <a:ea typeface="Manrope"/>
                <a:cs typeface="Manrope"/>
                <a:sym typeface="Manrope"/>
              </a:rPr>
              <a:t>•  </a:t>
            </a:r>
            <a:r>
              <a:rPr b="1" i="0" lang="en-US" sz="1019" u="none" cap="none" strike="noStrike">
                <a:solidFill>
                  <a:srgbClr val="0B2A4A"/>
                </a:solidFill>
                <a:latin typeface="Manrope"/>
                <a:ea typeface="Manrope"/>
                <a:cs typeface="Manrope"/>
                <a:sym typeface="Manrope"/>
              </a:rPr>
              <a:t>Enable SPCS app deploy</a:t>
            </a:r>
            <a:r>
              <a:rPr b="0" i="0" lang="en-US" sz="1019" u="none" cap="none" strike="noStrike">
                <a:solidFill>
                  <a:srgbClr val="1F2A33"/>
                </a:solidFill>
                <a:latin typeface="Manrope"/>
                <a:ea typeface="Manrope"/>
                <a:cs typeface="Manrope"/>
                <a:sym typeface="Manrope"/>
              </a:rPr>
              <a:t>; real-time SSE streaming</a:t>
            </a:r>
            <a:endParaRPr/>
          </a:p>
          <a:p>
            <a:pPr indent="-146304" lvl="0" marL="146304" marR="0" rtl="0" algn="l">
              <a:lnSpc>
                <a:spcPct val="10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019" u="none" cap="none" strike="noStrike">
                <a:solidFill>
                  <a:srgbClr val="29B5E8"/>
                </a:solidFill>
                <a:latin typeface="Manrope"/>
                <a:ea typeface="Manrope"/>
                <a:cs typeface="Manrope"/>
                <a:sym typeface="Manrope"/>
              </a:rPr>
              <a:t>•  </a:t>
            </a:r>
            <a:r>
              <a:rPr b="1" i="0" lang="en-US" sz="1019" u="none" cap="none" strike="noStrike">
                <a:solidFill>
                  <a:srgbClr val="0B2A4A"/>
                </a:solidFill>
                <a:latin typeface="Manrope"/>
                <a:ea typeface="Manrope"/>
                <a:cs typeface="Manrope"/>
                <a:sym typeface="Manrope"/>
              </a:rPr>
              <a:t>Ingest unstructured docs</a:t>
            </a:r>
            <a:r>
              <a:rPr b="0" i="0" lang="en-US" sz="1019" u="none" cap="none" strike="noStrike">
                <a:solidFill>
                  <a:srgbClr val="1F2A33"/>
                </a:solidFill>
                <a:latin typeface="Manrope"/>
                <a:ea typeface="Manrope"/>
                <a:cs typeface="Manrope"/>
                <a:sym typeface="Manrope"/>
              </a:rPr>
              <a:t> (inspection PDFs, dispatch records) via Cortex</a:t>
            </a:r>
            <a:endParaRPr/>
          </a:p>
          <a:p>
            <a:pPr indent="-146304" lvl="0" marL="146304" marR="0" rtl="0" algn="l">
              <a:lnSpc>
                <a:spcPct val="10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019" u="none" cap="none" strike="noStrike">
                <a:solidFill>
                  <a:srgbClr val="29B5E8"/>
                </a:solidFill>
                <a:latin typeface="Manrope"/>
                <a:ea typeface="Manrope"/>
                <a:cs typeface="Manrope"/>
                <a:sym typeface="Manrope"/>
              </a:rPr>
              <a:t>•  </a:t>
            </a:r>
            <a:r>
              <a:rPr b="1" i="0" lang="en-US" sz="1019" u="none" cap="none" strike="noStrike">
                <a:solidFill>
                  <a:srgbClr val="0B2A4A"/>
                </a:solidFill>
                <a:latin typeface="Manrope"/>
                <a:ea typeface="Manrope"/>
                <a:cs typeface="Manrope"/>
                <a:sym typeface="Manrope"/>
              </a:rPr>
              <a:t>Expand the ontology</a:t>
            </a:r>
            <a:r>
              <a:rPr b="0" i="0" lang="en-US" sz="1019" u="none" cap="none" strike="noStrike">
                <a:solidFill>
                  <a:srgbClr val="1F2A33"/>
                </a:solidFill>
                <a:latin typeface="Manrope"/>
                <a:ea typeface="Manrope"/>
                <a:cs typeface="Manrope"/>
                <a:sym typeface="Manrope"/>
              </a:rPr>
              <a:t> to a multi-party consortium</a:t>
            </a:r>
            <a:endParaRPr/>
          </a:p>
        </p:txBody>
      </p:sp>
      <p:sp>
        <p:nvSpPr>
          <p:cNvPr id="179" name="Google Shape;179;p6"/>
          <p:cNvSpPr txBox="1"/>
          <p:nvPr/>
        </p:nvSpPr>
        <p:spPr>
          <a:xfrm>
            <a:off x="4754880" y="3255264"/>
            <a:ext cx="39319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36A00"/>
                </a:solidFill>
                <a:latin typeface="Manrope"/>
                <a:ea typeface="Manrope"/>
                <a:cs typeface="Manrope"/>
                <a:sym typeface="Manrope"/>
              </a:rPr>
              <a:t>PHASE 3  ·  3–9 months</a:t>
            </a:r>
            <a:endParaRPr/>
          </a:p>
        </p:txBody>
      </p:sp>
      <p:sp>
        <p:nvSpPr>
          <p:cNvPr id="180" name="Google Shape;180;p6"/>
          <p:cNvSpPr txBox="1"/>
          <p:nvPr/>
        </p:nvSpPr>
        <p:spPr>
          <a:xfrm>
            <a:off x="4754880" y="3511296"/>
            <a:ext cx="38862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46304" lvl="0" marL="146304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9" u="none" cap="none" strike="noStrike">
                <a:solidFill>
                  <a:srgbClr val="29B5E8"/>
                </a:solidFill>
                <a:latin typeface="Manrope"/>
                <a:ea typeface="Manrope"/>
                <a:cs typeface="Manrope"/>
                <a:sym typeface="Manrope"/>
              </a:rPr>
              <a:t>•  </a:t>
            </a:r>
            <a:r>
              <a:rPr b="1" i="0" lang="en-US" sz="1019" u="none" cap="none" strike="noStrike">
                <a:solidFill>
                  <a:srgbClr val="0B2A4A"/>
                </a:solidFill>
                <a:latin typeface="Manrope"/>
                <a:ea typeface="Manrope"/>
                <a:cs typeface="Manrope"/>
                <a:sym typeface="Manrope"/>
              </a:rPr>
              <a:t>Multi-tenant GCC rollout</a:t>
            </a:r>
            <a:r>
              <a:rPr b="0" i="0" lang="en-US" sz="1019" u="none" cap="none" strike="noStrike">
                <a:solidFill>
                  <a:srgbClr val="1F2A33"/>
                </a:solidFill>
                <a:latin typeface="Manrope"/>
                <a:ea typeface="Manrope"/>
                <a:cs typeface="Manrope"/>
                <a:sym typeface="Manrope"/>
              </a:rPr>
              <a:t>; dbt + Git CI through CoCo CLI</a:t>
            </a:r>
            <a:endParaRPr/>
          </a:p>
          <a:p>
            <a:pPr indent="-146304" lvl="0" marL="146304" marR="0" rtl="0" algn="l">
              <a:lnSpc>
                <a:spcPct val="10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019" u="none" cap="none" strike="noStrike">
                <a:solidFill>
                  <a:srgbClr val="29B5E8"/>
                </a:solidFill>
                <a:latin typeface="Manrope"/>
                <a:ea typeface="Manrope"/>
                <a:cs typeface="Manrope"/>
                <a:sym typeface="Manrope"/>
              </a:rPr>
              <a:t>•  </a:t>
            </a:r>
            <a:r>
              <a:rPr b="1" i="0" lang="en-US" sz="1019" u="none" cap="none" strike="noStrike">
                <a:solidFill>
                  <a:srgbClr val="0B2A4A"/>
                </a:solidFill>
                <a:latin typeface="Manrope"/>
                <a:ea typeface="Manrope"/>
                <a:cs typeface="Manrope"/>
                <a:sym typeface="Manrope"/>
              </a:rPr>
              <a:t>Continuous agent evaluation &amp; optimization</a:t>
            </a:r>
            <a:r>
              <a:rPr b="0" i="0" lang="en-US" sz="1019" u="none" cap="none" strike="noStrike">
                <a:solidFill>
                  <a:srgbClr val="1F2A33"/>
                </a:solidFill>
                <a:latin typeface="Manrope"/>
                <a:ea typeface="Manrope"/>
                <a:cs typeface="Manrope"/>
                <a:sym typeface="Manrope"/>
              </a:rPr>
              <a:t> on live traffic</a:t>
            </a:r>
            <a:endParaRPr/>
          </a:p>
          <a:p>
            <a:pPr indent="-146304" lvl="0" marL="146304" marR="0" rtl="0" algn="l">
              <a:lnSpc>
                <a:spcPct val="10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019" u="none" cap="none" strike="noStrike">
                <a:solidFill>
                  <a:srgbClr val="29B5E8"/>
                </a:solidFill>
                <a:latin typeface="Manrope"/>
                <a:ea typeface="Manrope"/>
                <a:cs typeface="Manrope"/>
                <a:sym typeface="Manrope"/>
              </a:rPr>
              <a:t>•  </a:t>
            </a:r>
            <a:r>
              <a:rPr b="1" i="0" lang="en-US" sz="1019" u="none" cap="none" strike="noStrike">
                <a:solidFill>
                  <a:srgbClr val="0B2A4A"/>
                </a:solidFill>
                <a:latin typeface="Manrope"/>
                <a:ea typeface="Manrope"/>
                <a:cs typeface="Manrope"/>
                <a:sym typeface="Manrope"/>
              </a:rPr>
              <a:t>Generalise the ontology</a:t>
            </a:r>
            <a:r>
              <a:rPr b="0" i="0" lang="en-US" sz="1019" u="none" cap="none" strike="noStrike">
                <a:solidFill>
                  <a:srgbClr val="1F2A33"/>
                </a:solidFill>
                <a:latin typeface="Manrope"/>
                <a:ea typeface="Manrope"/>
                <a:cs typeface="Manrope"/>
                <a:sym typeface="Manrope"/>
              </a:rPr>
              <a:t> beyond blueberries to any perishables chain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7" title="timer 1 min cowsswedededexeco cli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7"/>
          <p:cNvSpPr txBox="1"/>
          <p:nvPr/>
        </p:nvSpPr>
        <p:spPr>
          <a:xfrm>
            <a:off x="731520" y="2889504"/>
            <a:ext cx="7680960" cy="603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One conversation replaces the SAP module stack —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every number governed by a single semantic source of truth.</a:t>
            </a:r>
            <a:endParaRPr/>
          </a:p>
        </p:txBody>
      </p:sp>
      <p:sp>
        <p:nvSpPr>
          <p:cNvPr id="187" name="Google Shape;187;p7"/>
          <p:cNvSpPr txBox="1"/>
          <p:nvPr/>
        </p:nvSpPr>
        <p:spPr>
          <a:xfrm>
            <a:off x="731520" y="4133087"/>
            <a:ext cx="76809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FD8FF"/>
                </a:solidFill>
                <a:latin typeface="Manrope"/>
                <a:ea typeface="Manrope"/>
                <a:cs typeface="Manrope"/>
                <a:sym typeface="Manrope"/>
              </a:rPr>
              <a:t>Repository:  github.com/Tirumala2824/blueberrychain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FD8FF"/>
                </a:solidFill>
                <a:latin typeface="Manrope"/>
                <a:ea typeface="Manrope"/>
                <a:cs typeface="Manrope"/>
                <a:sym typeface="Manrope"/>
              </a:rPr>
              <a:t>Team: </a:t>
            </a:r>
            <a:r>
              <a:rPr lang="en-US" sz="1100">
                <a:solidFill>
                  <a:srgbClr val="9FD8FF"/>
                </a:solidFill>
                <a:latin typeface="Manrope"/>
                <a:ea typeface="Manrope"/>
                <a:cs typeface="Manrope"/>
                <a:sym typeface="Manrope"/>
              </a:rPr>
              <a:t>BlueBerryOS</a:t>
            </a:r>
            <a:r>
              <a:rPr b="0" i="0" lang="en-US" sz="1100" u="none" cap="none" strike="noStrike">
                <a:solidFill>
                  <a:srgbClr val="9FD8FF"/>
                </a:solidFill>
                <a:latin typeface="Manrope"/>
                <a:ea typeface="Manrope"/>
                <a:cs typeface="Manrope"/>
                <a:sym typeface="Manrope"/>
              </a:rPr>
              <a:t>   ·   Contact:  </a:t>
            </a:r>
            <a:r>
              <a:rPr lang="en-US" sz="1100">
                <a:solidFill>
                  <a:srgbClr val="9FD8FF"/>
                </a:solidFill>
                <a:latin typeface="Manrope"/>
                <a:ea typeface="Manrope"/>
                <a:cs typeface="Manrope"/>
                <a:sym typeface="Manrope"/>
              </a:rPr>
              <a:t>pdprasad1710@gmail.com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1" lang="en-US" sz="1100" u="none" cap="none" strike="noStrike">
                <a:solidFill>
                  <a:srgbClr val="00C4F5"/>
                </a:solidFill>
                <a:latin typeface="Manrope"/>
                <a:ea typeface="Manrope"/>
                <a:cs typeface="Manrope"/>
                <a:sym typeface="Manrope"/>
              </a:rPr>
              <a:t>From farm to retail — auditable by design.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